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66"/>
    <a:srgbClr val="333333"/>
    <a:srgbClr val="EAEAEA"/>
    <a:srgbClr val="FDBB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27" autoAdjust="0"/>
    <p:restoredTop sz="94655" autoAdjust="0"/>
  </p:normalViewPr>
  <p:slideViewPr>
    <p:cSldViewPr snapToGrid="0" snapToObjects="1">
      <p:cViewPr varScale="1">
        <p:scale>
          <a:sx n="103" d="100"/>
          <a:sy n="103" d="100"/>
        </p:scale>
        <p:origin x="192" y="4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851660-0934-124D-A4B3-496C7F320307}" type="datetimeFigureOut">
              <a:rPr lang="de-DE" smtClean="0"/>
              <a:t>06.08.2026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3A3EDE-7EBB-0F4A-80C2-34DB9D2E2ED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82155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C828EF-C252-394A-93BF-1C478CFA0896}" type="datetimeFigureOut">
              <a:rPr lang="de-DE" smtClean="0"/>
              <a:t>06.08.2026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E02386-BEE7-5D4D-B4E7-4BB579C4788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901983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7040B52E-6118-F844-8FBE-85B6AFDC9E2A}"/>
              </a:ext>
            </a:extLst>
          </p:cNvPr>
          <p:cNvGrpSpPr/>
          <p:nvPr userDrawn="1"/>
        </p:nvGrpSpPr>
        <p:grpSpPr>
          <a:xfrm>
            <a:off x="1502578" y="976199"/>
            <a:ext cx="7426269" cy="3877686"/>
            <a:chOff x="1502578" y="976199"/>
            <a:chExt cx="7426269" cy="3877686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3FAB316F-95F1-6040-AB6B-EF23A5D58FAF}"/>
                </a:ext>
              </a:extLst>
            </p:cNvPr>
            <p:cNvSpPr/>
            <p:nvPr userDrawn="1"/>
          </p:nvSpPr>
          <p:spPr>
            <a:xfrm>
              <a:off x="7781365" y="3854824"/>
              <a:ext cx="1147482" cy="9990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dirty="0"/>
            </a:p>
          </p:txBody>
        </p:sp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9DE39F29-B8C0-C64D-ADFE-A8AFF963CB1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2578" y="976199"/>
              <a:ext cx="6099496" cy="3877686"/>
            </a:xfrm>
            <a:prstGeom prst="rect">
              <a:avLst/>
            </a:prstGeom>
          </p:spPr>
        </p:pic>
      </p:grp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151529" y="2738074"/>
            <a:ext cx="4303059" cy="584900"/>
          </a:xfrm>
        </p:spPr>
        <p:txBody>
          <a:bodyPr anchor="b" anchorCtr="0">
            <a:noAutofit/>
          </a:bodyPr>
          <a:lstStyle>
            <a:lvl1pPr algn="ctr">
              <a:defRPr sz="2400">
                <a:solidFill>
                  <a:srgbClr val="66666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151529" y="3322973"/>
            <a:ext cx="4303060" cy="531851"/>
          </a:xfrm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6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sp>
        <p:nvSpPr>
          <p:cNvPr id="13" name="Rechteck 12"/>
          <p:cNvSpPr/>
          <p:nvPr userDrawn="1"/>
        </p:nvSpPr>
        <p:spPr>
          <a:xfrm>
            <a:off x="404091" y="4987636"/>
            <a:ext cx="3371273" cy="155864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50"/>
          </a:p>
        </p:txBody>
      </p:sp>
    </p:spTree>
    <p:extLst>
      <p:ext uri="{BB962C8B-B14F-4D97-AF65-F5344CB8AC3E}">
        <p14:creationId xmlns:p14="http://schemas.microsoft.com/office/powerpoint/2010/main" val="2409936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22568" y="230397"/>
            <a:ext cx="6700979" cy="5906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CBDDA-5CCF-8748-8988-9DC6C8981774}" type="slidenum">
              <a:rPr lang="de-DE" smtClean="0"/>
              <a:t>‹#›</a:t>
            </a:fld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2"/>
          </p:nvPr>
        </p:nvSpPr>
        <p:spPr>
          <a:xfrm>
            <a:off x="7123547" y="4914483"/>
            <a:ext cx="82528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r>
              <a:rPr lang="de-DE"/>
              <a:t>31.03.14</a:t>
            </a:r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3"/>
          </p:nvPr>
        </p:nvSpPr>
        <p:spPr>
          <a:xfrm>
            <a:off x="3962401" y="4920459"/>
            <a:ext cx="3136599" cy="2678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rgbClr val="333333"/>
                </a:solidFill>
              </a:defRPr>
            </a:lvl1pPr>
          </a:lstStyle>
          <a:p>
            <a:pPr algn="l"/>
            <a:r>
              <a:rPr lang="de-DE"/>
              <a:t>Name/Vortragstitel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47664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CBDDA-5CCF-8748-8988-9DC6C8981774}" type="slidenum">
              <a:rPr lang="de-DE" smtClean="0"/>
              <a:t>‹#›</a:t>
            </a:fld>
            <a:endParaRPr lang="de-DE"/>
          </a:p>
        </p:txBody>
      </p:sp>
      <p:sp>
        <p:nvSpPr>
          <p:cNvPr id="6" name="Datumsplatzhalter 4"/>
          <p:cNvSpPr>
            <a:spLocks noGrp="1"/>
          </p:cNvSpPr>
          <p:nvPr>
            <p:ph type="dt" sz="half" idx="13"/>
          </p:nvPr>
        </p:nvSpPr>
        <p:spPr>
          <a:xfrm>
            <a:off x="7099001" y="4914483"/>
            <a:ext cx="84983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r>
              <a:rPr lang="de-DE"/>
              <a:t>31.03.14</a:t>
            </a:r>
            <a:endParaRPr lang="de-DE" dirty="0"/>
          </a:p>
        </p:txBody>
      </p:sp>
      <p:sp>
        <p:nvSpPr>
          <p:cNvPr id="9" name="Fußzeilenplatzhalter 7"/>
          <p:cNvSpPr>
            <a:spLocks noGrp="1"/>
          </p:cNvSpPr>
          <p:nvPr>
            <p:ph type="ftr" sz="quarter" idx="3"/>
          </p:nvPr>
        </p:nvSpPr>
        <p:spPr>
          <a:xfrm>
            <a:off x="3962401" y="4920459"/>
            <a:ext cx="3136599" cy="2678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rgbClr val="333333"/>
                </a:solidFill>
              </a:defRPr>
            </a:lvl1pPr>
          </a:lstStyle>
          <a:p>
            <a:pPr algn="l"/>
            <a:r>
              <a:rPr lang="de-DE"/>
              <a:t>Name/Vortragstitel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66025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CBDDA-5CCF-8748-8988-9DC6C8981774}" type="slidenum">
              <a:rPr lang="de-DE" smtClean="0"/>
              <a:t>‹#›</a:t>
            </a:fld>
            <a:endParaRPr lang="de-DE"/>
          </a:p>
        </p:txBody>
      </p:sp>
      <p:sp>
        <p:nvSpPr>
          <p:cNvPr id="4" name="Datumsplatzhalter 4"/>
          <p:cNvSpPr>
            <a:spLocks noGrp="1"/>
          </p:cNvSpPr>
          <p:nvPr>
            <p:ph type="dt" sz="half" idx="2"/>
          </p:nvPr>
        </p:nvSpPr>
        <p:spPr>
          <a:xfrm>
            <a:off x="7099001" y="4914483"/>
            <a:ext cx="84983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r>
              <a:rPr lang="de-DE"/>
              <a:t>31.03.14</a:t>
            </a:r>
            <a:endParaRPr lang="de-DE" dirty="0"/>
          </a:p>
        </p:txBody>
      </p:sp>
      <p:sp>
        <p:nvSpPr>
          <p:cNvPr id="7" name="Fußzeilenplatzhalter 7"/>
          <p:cNvSpPr>
            <a:spLocks noGrp="1"/>
          </p:cNvSpPr>
          <p:nvPr>
            <p:ph type="ftr" sz="quarter" idx="3"/>
          </p:nvPr>
        </p:nvSpPr>
        <p:spPr>
          <a:xfrm>
            <a:off x="3962401" y="4920459"/>
            <a:ext cx="3136599" cy="2678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rgbClr val="333333"/>
                </a:solidFill>
              </a:defRPr>
            </a:lvl1pPr>
          </a:lstStyle>
          <a:p>
            <a:pPr algn="l"/>
            <a:r>
              <a:rPr lang="de-DE"/>
              <a:t>Name/Vortragstitel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89792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Gerade Verbindung 26">
            <a:extLst>
              <a:ext uri="{FF2B5EF4-FFF2-40B4-BE49-F238E27FC236}">
                <a16:creationId xmlns:a16="http://schemas.microsoft.com/office/drawing/2014/main" id="{943494DA-FA9D-1447-B70B-2896FD77F5D0}"/>
              </a:ext>
            </a:extLst>
          </p:cNvPr>
          <p:cNvCxnSpPr/>
          <p:nvPr userDrawn="1"/>
        </p:nvCxnSpPr>
        <p:spPr>
          <a:xfrm>
            <a:off x="0" y="5049583"/>
            <a:ext cx="9144000" cy="0"/>
          </a:xfrm>
          <a:prstGeom prst="line">
            <a:avLst/>
          </a:prstGeom>
          <a:ln w="203200">
            <a:solidFill>
              <a:srgbClr val="EAEA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Bild 6" descr="GSI_Logo_rgb.png">
            <a:extLst>
              <a:ext uri="{FF2B5EF4-FFF2-40B4-BE49-F238E27FC236}">
                <a16:creationId xmlns:a16="http://schemas.microsoft.com/office/drawing/2014/main" id="{0E0D4DB1-EEDA-A644-B002-75EBF9968E0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9839" y="363875"/>
            <a:ext cx="1129081" cy="376361"/>
          </a:xfrm>
          <a:prstGeom prst="rect">
            <a:avLst/>
          </a:prstGeom>
        </p:spPr>
      </p:pic>
      <p:cxnSp>
        <p:nvCxnSpPr>
          <p:cNvPr id="23" name="Gerade Verbindung 22">
            <a:extLst>
              <a:ext uri="{FF2B5EF4-FFF2-40B4-BE49-F238E27FC236}">
                <a16:creationId xmlns:a16="http://schemas.microsoft.com/office/drawing/2014/main" id="{2AC6B5F8-0827-6645-B5C9-ED4385971D8F}"/>
              </a:ext>
            </a:extLst>
          </p:cNvPr>
          <p:cNvCxnSpPr/>
          <p:nvPr userDrawn="1"/>
        </p:nvCxnSpPr>
        <p:spPr>
          <a:xfrm>
            <a:off x="0" y="826224"/>
            <a:ext cx="9144000" cy="0"/>
          </a:xfrm>
          <a:prstGeom prst="line">
            <a:avLst/>
          </a:prstGeom>
          <a:ln w="203200">
            <a:solidFill>
              <a:srgbClr val="EAEA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hteck 23">
            <a:extLst>
              <a:ext uri="{FF2B5EF4-FFF2-40B4-BE49-F238E27FC236}">
                <a16:creationId xmlns:a16="http://schemas.microsoft.com/office/drawing/2014/main" id="{CC9BBC89-C94F-2342-BFB0-0C52DC04C485}"/>
              </a:ext>
            </a:extLst>
          </p:cNvPr>
          <p:cNvSpPr>
            <a:spLocks/>
          </p:cNvSpPr>
          <p:nvPr userDrawn="1"/>
        </p:nvSpPr>
        <p:spPr>
          <a:xfrm>
            <a:off x="-1" y="727074"/>
            <a:ext cx="201600" cy="201600"/>
          </a:xfrm>
          <a:prstGeom prst="rect">
            <a:avLst/>
          </a:prstGeom>
          <a:solidFill>
            <a:srgbClr val="FDB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5E807027-043F-224A-B8A1-2EA6FD7AA9B7}"/>
              </a:ext>
            </a:extLst>
          </p:cNvPr>
          <p:cNvSpPr>
            <a:spLocks/>
          </p:cNvSpPr>
          <p:nvPr userDrawn="1"/>
        </p:nvSpPr>
        <p:spPr>
          <a:xfrm>
            <a:off x="-1" y="4949824"/>
            <a:ext cx="203277" cy="203277"/>
          </a:xfrm>
          <a:prstGeom prst="rect">
            <a:avLst/>
          </a:prstGeom>
          <a:solidFill>
            <a:srgbClr val="FDB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17635" y="1088015"/>
            <a:ext cx="8420176" cy="367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015792" y="4914482"/>
            <a:ext cx="74489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rgbClr val="333333"/>
                </a:solidFill>
                <a:latin typeface="Arial"/>
                <a:cs typeface="Arial"/>
              </a:defRPr>
            </a:lvl1pPr>
          </a:lstStyle>
          <a:p>
            <a:fld id="{125CBDDA-5CCF-8748-8988-9DC6C898177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1" name="Textfeld 10"/>
          <p:cNvSpPr txBox="1"/>
          <p:nvPr/>
        </p:nvSpPr>
        <p:spPr>
          <a:xfrm>
            <a:off x="435270" y="4950517"/>
            <a:ext cx="3527133" cy="20774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750" dirty="0">
                <a:solidFill>
                  <a:srgbClr val="333333"/>
                </a:solidFill>
                <a:latin typeface="Arial"/>
                <a:cs typeface="Arial"/>
              </a:rPr>
              <a:t>GSI Helmholtzzentrum für Schwerionenforschung GmbH</a:t>
            </a:r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317638" y="231075"/>
            <a:ext cx="6129236" cy="59066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2"/>
          </p:nvPr>
        </p:nvSpPr>
        <p:spPr>
          <a:xfrm>
            <a:off x="7151256" y="4914482"/>
            <a:ext cx="84837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rgbClr val="333333"/>
                </a:solidFill>
              </a:defRPr>
            </a:lvl1pPr>
          </a:lstStyle>
          <a:p>
            <a:r>
              <a:rPr lang="de-DE"/>
              <a:t>31.03.14</a:t>
            </a:r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3"/>
          </p:nvPr>
        </p:nvSpPr>
        <p:spPr>
          <a:xfrm>
            <a:off x="4013201" y="4920458"/>
            <a:ext cx="3136599" cy="2678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rgbClr val="333333"/>
                </a:solidFill>
              </a:defRPr>
            </a:lvl1pPr>
          </a:lstStyle>
          <a:p>
            <a:pPr algn="l"/>
            <a:r>
              <a:rPr lang="de-DE"/>
              <a:t>Name/Vortragstitel</a:t>
            </a:r>
            <a:endParaRPr lang="de-DE" dirty="0"/>
          </a:p>
        </p:txBody>
      </p:sp>
      <p:pic>
        <p:nvPicPr>
          <p:cNvPr id="13" name="Bild 12" descr="FAIR_Logo_rgb.png">
            <a:extLst>
              <a:ext uri="{FF2B5EF4-FFF2-40B4-BE49-F238E27FC236}">
                <a16:creationId xmlns:a16="http://schemas.microsoft.com/office/drawing/2014/main" id="{6EBF7B64-1F60-354C-83F5-CFA893F204BE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40829" y="206825"/>
            <a:ext cx="775055" cy="645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886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1800" b="1" kern="1200">
          <a:solidFill>
            <a:srgbClr val="333333"/>
          </a:solidFill>
          <a:latin typeface="Arial"/>
          <a:ea typeface="+mj-ea"/>
          <a:cs typeface="Arial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Clr>
          <a:srgbClr val="FDBB63"/>
        </a:buClr>
        <a:buFont typeface="Wingdings" charset="2"/>
        <a:buChar char="§"/>
        <a:defRPr sz="1800" kern="1200">
          <a:solidFill>
            <a:srgbClr val="333333"/>
          </a:solidFill>
          <a:latin typeface="Arial"/>
          <a:ea typeface="+mn-ea"/>
          <a:cs typeface="Arial"/>
        </a:defRPr>
      </a:lvl1pPr>
      <a:lvl2pPr marL="557213" indent="-214313" algn="l" defTabSz="342900" rtl="0" eaLnBrk="1" latinLnBrk="0" hangingPunct="1">
        <a:spcBef>
          <a:spcPct val="20000"/>
        </a:spcBef>
        <a:buClr>
          <a:srgbClr val="FDBB63"/>
        </a:buClr>
        <a:buFont typeface="Wingdings" charset="2"/>
        <a:buChar char="§"/>
        <a:defRPr sz="1500" kern="1200">
          <a:solidFill>
            <a:srgbClr val="333333"/>
          </a:solidFill>
          <a:latin typeface="Arial"/>
          <a:ea typeface="+mn-ea"/>
          <a:cs typeface="Arial"/>
        </a:defRPr>
      </a:lvl2pPr>
      <a:lvl3pPr marL="857250" indent="-171450" algn="l" defTabSz="342900" rtl="0" eaLnBrk="1" latinLnBrk="0" hangingPunct="1">
        <a:spcBef>
          <a:spcPct val="20000"/>
        </a:spcBef>
        <a:buClr>
          <a:srgbClr val="FDBB63"/>
        </a:buClr>
        <a:buFont typeface="Wingdings" charset="2"/>
        <a:buChar char="§"/>
        <a:defRPr sz="1350" kern="1200">
          <a:solidFill>
            <a:srgbClr val="333333"/>
          </a:solidFill>
          <a:latin typeface="Arial"/>
          <a:ea typeface="+mn-ea"/>
          <a:cs typeface="Arial"/>
        </a:defRPr>
      </a:lvl3pPr>
      <a:lvl4pPr marL="1200150" indent="-171450" algn="l" defTabSz="342900" rtl="0" eaLnBrk="1" latinLnBrk="0" hangingPunct="1">
        <a:spcBef>
          <a:spcPct val="20000"/>
        </a:spcBef>
        <a:buClr>
          <a:srgbClr val="FDBB63"/>
        </a:buClr>
        <a:buFont typeface="Wingdings" charset="2"/>
        <a:buChar char="§"/>
        <a:defRPr sz="1200" kern="1200">
          <a:solidFill>
            <a:srgbClr val="333333"/>
          </a:solidFill>
          <a:latin typeface="Arial"/>
          <a:ea typeface="+mn-ea"/>
          <a:cs typeface="Arial"/>
        </a:defRPr>
      </a:lvl4pPr>
      <a:lvl5pPr marL="1543050" indent="-171450" algn="l" defTabSz="342900" rtl="0" eaLnBrk="1" latinLnBrk="0" hangingPunct="1">
        <a:spcBef>
          <a:spcPct val="20000"/>
        </a:spcBef>
        <a:buClr>
          <a:srgbClr val="FDBB63"/>
        </a:buClr>
        <a:buFont typeface="Wingdings" charset="2"/>
        <a:buChar char="§"/>
        <a:defRPr sz="1050" kern="1200">
          <a:solidFill>
            <a:srgbClr val="333333"/>
          </a:solidFill>
          <a:latin typeface="Arial"/>
          <a:ea typeface="+mn-ea"/>
          <a:cs typeface="Arial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CSS Studio</a:t>
            </a:r>
          </a:p>
        </p:txBody>
      </p:sp>
    </p:spTree>
    <p:extLst>
      <p:ext uri="{BB962C8B-B14F-4D97-AF65-F5344CB8AC3E}">
        <p14:creationId xmlns:p14="http://schemas.microsoft.com/office/powerpoint/2010/main" val="3910199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A718E-8BA5-4072-B676-7597595DF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Report 26.08.05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EA7C9-E068-492F-B57E-595726FEF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635" y="1088015"/>
            <a:ext cx="8420176" cy="3669336"/>
          </a:xfrm>
        </p:spPr>
        <p:txBody>
          <a:bodyPr/>
          <a:lstStyle/>
          <a:p>
            <a:pPr marL="0" indent="0">
              <a:buNone/>
            </a:pPr>
            <a:r>
              <a:rPr lang="de-DE" b="1" dirty="0" err="1"/>
              <a:t>Suggested</a:t>
            </a:r>
            <a:endParaRPr lang="de-DE" b="1" dirty="0"/>
          </a:p>
          <a:p>
            <a:pPr marL="342900" indent="-342900">
              <a:buFont typeface="+mj-lt"/>
              <a:buAutoNum type="arabicPeriod"/>
            </a:pPr>
            <a:r>
              <a:rPr lang="de-DE" sz="1400" dirty="0" err="1"/>
              <a:t>Existing</a:t>
            </a:r>
            <a:r>
              <a:rPr lang="de-DE" sz="1400" dirty="0"/>
              <a:t> </a:t>
            </a:r>
            <a:r>
              <a:rPr lang="de-DE" sz="1400" dirty="0" err="1"/>
              <a:t>example</a:t>
            </a:r>
            <a:r>
              <a:rPr lang="de-DE" sz="1400" dirty="0"/>
              <a:t> </a:t>
            </a:r>
            <a:r>
              <a:rPr lang="de-DE" sz="1400" dirty="0" err="1"/>
              <a:t>should</a:t>
            </a:r>
            <a:r>
              <a:rPr lang="de-DE" sz="1400" dirty="0"/>
              <a:t> </a:t>
            </a:r>
            <a:r>
              <a:rPr lang="de-DE" sz="1400" dirty="0" err="1"/>
              <a:t>be</a:t>
            </a:r>
            <a:r>
              <a:rPr lang="de-DE" sz="1400" dirty="0"/>
              <a:t> </a:t>
            </a:r>
            <a:r>
              <a:rPr lang="de-DE" sz="1400" dirty="0" err="1"/>
              <a:t>improved</a:t>
            </a:r>
            <a:r>
              <a:rPr lang="de-DE" sz="1400" dirty="0"/>
              <a:t> </a:t>
            </a:r>
          </a:p>
          <a:p>
            <a:pPr marL="642938" lvl="1" indent="-342900">
              <a:buFont typeface="+mj-lt"/>
              <a:buAutoNum type="arabicPeriod"/>
            </a:pPr>
            <a:r>
              <a:rPr lang="de-DE" sz="1000" strike="sngStrike" dirty="0" err="1"/>
              <a:t>Make</a:t>
            </a:r>
            <a:r>
              <a:rPr lang="de-DE" sz="1000" strike="sngStrike" dirty="0"/>
              <a:t> </a:t>
            </a:r>
            <a:r>
              <a:rPr lang="de-DE" sz="1000" strike="sngStrike" dirty="0" err="1"/>
              <a:t>as</a:t>
            </a:r>
            <a:r>
              <a:rPr lang="de-DE" sz="1000" strike="sngStrike" dirty="0"/>
              <a:t> an </a:t>
            </a:r>
            <a:r>
              <a:rPr lang="de-DE" sz="1000" strike="sngStrike" dirty="0" err="1"/>
              <a:t>object</a:t>
            </a:r>
            <a:r>
              <a:rPr lang="de-DE" sz="1000" strike="sngStrike" dirty="0"/>
              <a:t>, </a:t>
            </a:r>
            <a:r>
              <a:rPr lang="de-DE" sz="1000" strike="sngStrike" dirty="0" err="1"/>
              <a:t>create</a:t>
            </a:r>
            <a:r>
              <a:rPr lang="de-DE" sz="1000" strike="sngStrike" dirty="0"/>
              <a:t> a </a:t>
            </a:r>
            <a:r>
              <a:rPr lang="de-DE" sz="1000" strike="sngStrike" dirty="0" err="1"/>
              <a:t>template</a:t>
            </a:r>
            <a:r>
              <a:rPr lang="de-DE" sz="1000" strike="sngStrike" dirty="0"/>
              <a:t> </a:t>
            </a:r>
            <a:r>
              <a:rPr lang="de-DE" sz="1000" strike="sngStrike" dirty="0" err="1"/>
              <a:t>which</a:t>
            </a:r>
            <a:r>
              <a:rPr lang="de-DE" sz="1000" strike="sngStrike" dirty="0"/>
              <a:t> </a:t>
            </a:r>
            <a:r>
              <a:rPr lang="de-DE" sz="1000" strike="sngStrike" dirty="0" err="1"/>
              <a:t>has</a:t>
            </a:r>
            <a:r>
              <a:rPr lang="de-DE" sz="1000" strike="sngStrike" dirty="0"/>
              <a:t> 4 </a:t>
            </a:r>
            <a:r>
              <a:rPr lang="de-DE" sz="1000" strike="sngStrike" dirty="0" err="1"/>
              <a:t>values</a:t>
            </a:r>
            <a:r>
              <a:rPr lang="de-DE" sz="1000" strike="sngStrike" dirty="0"/>
              <a:t> FPGA </a:t>
            </a:r>
            <a:r>
              <a:rPr lang="de-DE" sz="1000" strike="sngStrike" dirty="0" err="1"/>
              <a:t>temp</a:t>
            </a:r>
            <a:r>
              <a:rPr lang="de-DE" sz="1000" strike="sngStrike" dirty="0"/>
              <a:t>, </a:t>
            </a:r>
            <a:r>
              <a:rPr lang="de-DE" sz="1000" strike="sngStrike" dirty="0" err="1"/>
              <a:t>SiPM</a:t>
            </a:r>
            <a:r>
              <a:rPr lang="de-DE" sz="1000" strike="sngStrike" dirty="0"/>
              <a:t> </a:t>
            </a:r>
            <a:r>
              <a:rPr lang="de-DE" sz="1000" strike="sngStrike" dirty="0" err="1"/>
              <a:t>temp</a:t>
            </a:r>
            <a:r>
              <a:rPr lang="de-DE" sz="1000" strike="sngStrike" dirty="0"/>
              <a:t>, Bias Set | RBV | STATE, </a:t>
            </a:r>
            <a:r>
              <a:rPr lang="de-DE" sz="1000" strike="sngStrike" dirty="0" err="1"/>
              <a:t>voltage</a:t>
            </a:r>
            <a:r>
              <a:rPr lang="de-DE" sz="1000" strike="sngStrike" dirty="0"/>
              <a:t> </a:t>
            </a:r>
            <a:r>
              <a:rPr lang="de-DE" sz="1000" strike="sngStrike" dirty="0" err="1"/>
              <a:t>values</a:t>
            </a:r>
            <a:r>
              <a:rPr lang="de-DE" sz="1000" strike="sngStrike" dirty="0"/>
              <a:t> -&gt; STATE </a:t>
            </a:r>
            <a:r>
              <a:rPr lang="de-DE" sz="1000" strike="sngStrike" dirty="0" err="1"/>
              <a:t>should</a:t>
            </a:r>
            <a:r>
              <a:rPr lang="de-DE" sz="1000" strike="sngStrike" dirty="0"/>
              <a:t> </a:t>
            </a:r>
            <a:r>
              <a:rPr lang="de-DE" sz="1000" strike="sngStrike" dirty="0" err="1"/>
              <a:t>be</a:t>
            </a:r>
            <a:r>
              <a:rPr lang="de-DE" sz="1000" strike="sngStrike" dirty="0"/>
              <a:t> </a:t>
            </a:r>
            <a:r>
              <a:rPr lang="de-DE" sz="1000" strike="sngStrike" dirty="0" err="1"/>
              <a:t>defined</a:t>
            </a:r>
            <a:r>
              <a:rPr lang="de-DE" sz="1000" strike="sngStrike" dirty="0"/>
              <a:t> </a:t>
            </a:r>
            <a:r>
              <a:rPr lang="de-DE" sz="1000" strike="sngStrike" dirty="0" err="1"/>
              <a:t>the</a:t>
            </a:r>
            <a:r>
              <a:rPr lang="de-DE" sz="1000" strike="sngStrike" dirty="0"/>
              <a:t> </a:t>
            </a:r>
            <a:r>
              <a:rPr lang="de-DE" sz="1000" strike="sngStrike" dirty="0" err="1"/>
              <a:t>colour</a:t>
            </a:r>
            <a:r>
              <a:rPr lang="de-DE" sz="1000" strike="sngStrike" dirty="0"/>
              <a:t> </a:t>
            </a:r>
            <a:r>
              <a:rPr lang="de-DE" sz="1000" strike="sngStrike" dirty="0" err="1"/>
              <a:t>of</a:t>
            </a:r>
            <a:r>
              <a:rPr lang="de-DE" sz="1000" strike="sngStrike" dirty="0"/>
              <a:t> </a:t>
            </a:r>
            <a:r>
              <a:rPr lang="de-DE" sz="1000" strike="sngStrike" dirty="0" err="1"/>
              <a:t>voltage</a:t>
            </a:r>
            <a:r>
              <a:rPr lang="de-DE" sz="1000" strike="sngStrike" dirty="0"/>
              <a:t> </a:t>
            </a:r>
            <a:r>
              <a:rPr lang="de-DE" sz="1000" strike="sngStrike" dirty="0" err="1"/>
              <a:t>if</a:t>
            </a:r>
            <a:r>
              <a:rPr lang="de-DE" sz="1000" strike="sngStrike" dirty="0"/>
              <a:t> </a:t>
            </a:r>
            <a:r>
              <a:rPr lang="de-DE" sz="1000" strike="sngStrike" dirty="0" err="1"/>
              <a:t>the</a:t>
            </a:r>
            <a:r>
              <a:rPr lang="de-DE" sz="1000" strike="sngStrike" dirty="0"/>
              <a:t> </a:t>
            </a:r>
            <a:r>
              <a:rPr lang="de-DE" sz="1000" strike="sngStrike" dirty="0" err="1"/>
              <a:t>difference</a:t>
            </a:r>
            <a:r>
              <a:rPr lang="de-DE" sz="1000" strike="sngStrike" dirty="0"/>
              <a:t> </a:t>
            </a:r>
            <a:r>
              <a:rPr lang="de-DE" sz="1000" strike="sngStrike" dirty="0" err="1"/>
              <a:t>between</a:t>
            </a:r>
            <a:r>
              <a:rPr lang="de-DE" sz="1000" strike="sngStrike" dirty="0"/>
              <a:t> </a:t>
            </a:r>
            <a:r>
              <a:rPr lang="de-DE" sz="1000" strike="sngStrike" dirty="0" err="1"/>
              <a:t>voltage</a:t>
            </a:r>
            <a:r>
              <a:rPr lang="de-DE" sz="1000" strike="sngStrike" dirty="0"/>
              <a:t> </a:t>
            </a:r>
            <a:r>
              <a:rPr lang="de-DE" sz="1000" strike="sngStrike" dirty="0" err="1"/>
              <a:t>bigger</a:t>
            </a:r>
            <a:r>
              <a:rPr lang="de-DE" sz="1000" strike="sngStrike" dirty="0"/>
              <a:t> </a:t>
            </a:r>
            <a:r>
              <a:rPr lang="de-DE" sz="1000" strike="sngStrike" dirty="0" err="1"/>
              <a:t>than</a:t>
            </a:r>
            <a:r>
              <a:rPr lang="de-DE" sz="1000" strike="sngStrike" dirty="0"/>
              <a:t> 0.6V </a:t>
            </a:r>
            <a:r>
              <a:rPr lang="de-DE" sz="1000" strike="sngStrike" dirty="0" err="1"/>
              <a:t>should</a:t>
            </a:r>
            <a:r>
              <a:rPr lang="de-DE" sz="1000" strike="sngStrike" dirty="0"/>
              <a:t> </a:t>
            </a:r>
            <a:r>
              <a:rPr lang="de-DE" sz="1000" strike="sngStrike" dirty="0" err="1"/>
              <a:t>be</a:t>
            </a:r>
            <a:r>
              <a:rPr lang="de-DE" sz="1000" strike="sngStrike" dirty="0"/>
              <a:t> </a:t>
            </a:r>
            <a:r>
              <a:rPr lang="de-DE" sz="1000" strike="sngStrike" dirty="0" err="1"/>
              <a:t>red</a:t>
            </a:r>
            <a:r>
              <a:rPr lang="de-DE" sz="1000" strike="sngStrike" dirty="0"/>
              <a:t>, </a:t>
            </a:r>
            <a:r>
              <a:rPr lang="de-DE" sz="1000" strike="sngStrike" dirty="0" err="1"/>
              <a:t>less</a:t>
            </a:r>
            <a:r>
              <a:rPr lang="de-DE" sz="1000" strike="sngStrike" dirty="0"/>
              <a:t> </a:t>
            </a:r>
            <a:r>
              <a:rPr lang="de-DE" sz="1000" strike="sngStrike" dirty="0" err="1"/>
              <a:t>than</a:t>
            </a:r>
            <a:r>
              <a:rPr lang="de-DE" sz="1000" strike="sngStrike" dirty="0"/>
              <a:t> 0.6 </a:t>
            </a:r>
            <a:r>
              <a:rPr lang="de-DE" sz="1000" strike="sngStrike" dirty="0" err="1"/>
              <a:t>green</a:t>
            </a:r>
            <a:r>
              <a:rPr lang="de-DE" sz="1000" strike="sngStrike" dirty="0"/>
              <a:t>) </a:t>
            </a:r>
            <a:r>
              <a:rPr lang="de-DE" sz="1000" dirty="0">
                <a:solidFill>
                  <a:srgbClr val="FF0000"/>
                </a:solidFill>
              </a:rPr>
              <a:t>-&gt; I </a:t>
            </a:r>
            <a:r>
              <a:rPr lang="de-DE" sz="1000" dirty="0" err="1">
                <a:solidFill>
                  <a:srgbClr val="FF0000"/>
                </a:solidFill>
              </a:rPr>
              <a:t>used</a:t>
            </a:r>
            <a:r>
              <a:rPr lang="de-DE" sz="1000" dirty="0">
                <a:solidFill>
                  <a:srgbClr val="FF0000"/>
                </a:solidFill>
              </a:rPr>
              <a:t> </a:t>
            </a:r>
            <a:r>
              <a:rPr lang="de-DE" sz="1000" dirty="0" err="1">
                <a:solidFill>
                  <a:srgbClr val="FF0000"/>
                </a:solidFill>
              </a:rPr>
              <a:t>embedded</a:t>
            </a:r>
            <a:r>
              <a:rPr lang="de-DE" sz="1000" dirty="0">
                <a:solidFill>
                  <a:srgbClr val="FF0000"/>
                </a:solidFill>
              </a:rPr>
              <a:t> </a:t>
            </a:r>
            <a:r>
              <a:rPr lang="de-DE" sz="1000" dirty="0" err="1">
                <a:solidFill>
                  <a:srgbClr val="FF0000"/>
                </a:solidFill>
              </a:rPr>
              <a:t>display</a:t>
            </a:r>
            <a:r>
              <a:rPr lang="de-DE" sz="1000" dirty="0">
                <a:solidFill>
                  <a:srgbClr val="FF0000"/>
                </a:solidFill>
              </a:rPr>
              <a:t> </a:t>
            </a:r>
            <a:r>
              <a:rPr lang="de-DE" sz="1000" dirty="0" err="1">
                <a:solidFill>
                  <a:srgbClr val="FF0000"/>
                </a:solidFill>
              </a:rPr>
              <a:t>option</a:t>
            </a:r>
            <a:r>
              <a:rPr lang="de-DE" sz="1000" dirty="0">
                <a:solidFill>
                  <a:srgbClr val="FF0000"/>
                </a:solidFill>
              </a:rPr>
              <a:t> </a:t>
            </a:r>
            <a:r>
              <a:rPr lang="de-DE" sz="1000" dirty="0" err="1">
                <a:solidFill>
                  <a:srgbClr val="FF0000"/>
                </a:solidFill>
              </a:rPr>
              <a:t>then</a:t>
            </a:r>
            <a:r>
              <a:rPr lang="de-DE" sz="1000" dirty="0">
                <a:solidFill>
                  <a:srgbClr val="FF0000"/>
                </a:solidFill>
              </a:rPr>
              <a:t> i </a:t>
            </a:r>
            <a:r>
              <a:rPr lang="de-DE" sz="1000" dirty="0" err="1">
                <a:solidFill>
                  <a:srgbClr val="FF0000"/>
                </a:solidFill>
              </a:rPr>
              <a:t>use</a:t>
            </a:r>
            <a:r>
              <a:rPr lang="de-DE" sz="1000" dirty="0">
                <a:solidFill>
                  <a:srgbClr val="FF0000"/>
                </a:solidFill>
              </a:rPr>
              <a:t> </a:t>
            </a:r>
            <a:r>
              <a:rPr lang="de-DE" sz="1000" dirty="0" err="1">
                <a:solidFill>
                  <a:srgbClr val="FF0000"/>
                </a:solidFill>
              </a:rPr>
              <a:t>macro</a:t>
            </a:r>
            <a:r>
              <a:rPr lang="de-DE" sz="1000" dirty="0">
                <a:solidFill>
                  <a:srgbClr val="FF0000"/>
                </a:solidFill>
              </a:rPr>
              <a:t> </a:t>
            </a:r>
            <a:r>
              <a:rPr lang="de-DE" sz="1000" dirty="0" err="1">
                <a:solidFill>
                  <a:srgbClr val="FF0000"/>
                </a:solidFill>
              </a:rPr>
              <a:t>for</a:t>
            </a:r>
            <a:r>
              <a:rPr lang="de-DE" sz="1000" dirty="0">
                <a:solidFill>
                  <a:srgbClr val="FF0000"/>
                </a:solidFill>
              </a:rPr>
              <a:t> </a:t>
            </a:r>
            <a:r>
              <a:rPr lang="de-DE" sz="1000" dirty="0" err="1">
                <a:solidFill>
                  <a:srgbClr val="FF0000"/>
                </a:solidFill>
              </a:rPr>
              <a:t>each</a:t>
            </a:r>
            <a:r>
              <a:rPr lang="de-DE" sz="1000" dirty="0">
                <a:solidFill>
                  <a:srgbClr val="FF0000"/>
                </a:solidFill>
              </a:rPr>
              <a:t> </a:t>
            </a:r>
            <a:r>
              <a:rPr lang="de-DE" sz="1000" dirty="0" err="1">
                <a:solidFill>
                  <a:srgbClr val="FF0000"/>
                </a:solidFill>
              </a:rPr>
              <a:t>board</a:t>
            </a:r>
            <a:r>
              <a:rPr lang="de-DE" sz="1000" dirty="0">
                <a:solidFill>
                  <a:srgbClr val="FF0000"/>
                </a:solidFill>
              </a:rPr>
              <a:t>, </a:t>
            </a:r>
            <a:r>
              <a:rPr lang="de-DE" sz="1000" dirty="0" err="1">
                <a:solidFill>
                  <a:srgbClr val="FF0000"/>
                </a:solidFill>
              </a:rPr>
              <a:t>it</a:t>
            </a:r>
            <a:r>
              <a:rPr lang="de-DE" sz="1000" dirty="0">
                <a:solidFill>
                  <a:srgbClr val="FF0000"/>
                </a:solidFill>
              </a:rPr>
              <a:t> </a:t>
            </a:r>
            <a:r>
              <a:rPr lang="de-DE" sz="1000" dirty="0" err="1">
                <a:solidFill>
                  <a:srgbClr val="FF0000"/>
                </a:solidFill>
              </a:rPr>
              <a:t>is</a:t>
            </a:r>
            <a:r>
              <a:rPr lang="de-DE" sz="1000" dirty="0">
                <a:solidFill>
                  <a:srgbClr val="FF0000"/>
                </a:solidFill>
              </a:rPr>
              <a:t> </a:t>
            </a:r>
            <a:r>
              <a:rPr lang="de-DE" sz="1000" dirty="0" err="1">
                <a:solidFill>
                  <a:srgbClr val="FF0000"/>
                </a:solidFill>
              </a:rPr>
              <a:t>easier</a:t>
            </a:r>
            <a:r>
              <a:rPr lang="de-DE" sz="1000" dirty="0">
                <a:solidFill>
                  <a:srgbClr val="FF0000"/>
                </a:solidFill>
              </a:rPr>
              <a:t> </a:t>
            </a:r>
            <a:r>
              <a:rPr lang="de-DE" sz="1000" dirty="0" err="1">
                <a:solidFill>
                  <a:srgbClr val="FF0000"/>
                </a:solidFill>
              </a:rPr>
              <a:t>than</a:t>
            </a:r>
            <a:r>
              <a:rPr lang="de-DE" sz="1000" dirty="0">
                <a:solidFill>
                  <a:srgbClr val="FF0000"/>
                </a:solidFill>
              </a:rPr>
              <a:t> </a:t>
            </a:r>
            <a:r>
              <a:rPr lang="de-DE" sz="1000" dirty="0" err="1">
                <a:solidFill>
                  <a:srgbClr val="FF0000"/>
                </a:solidFill>
              </a:rPr>
              <a:t>first</a:t>
            </a:r>
            <a:r>
              <a:rPr lang="de-DE" sz="1000" dirty="0">
                <a:solidFill>
                  <a:srgbClr val="FF0000"/>
                </a:solidFill>
              </a:rPr>
              <a:t> </a:t>
            </a:r>
            <a:r>
              <a:rPr lang="de-DE" sz="1000" dirty="0" err="1">
                <a:solidFill>
                  <a:srgbClr val="FF0000"/>
                </a:solidFill>
              </a:rPr>
              <a:t>one</a:t>
            </a:r>
            <a:r>
              <a:rPr lang="de-DE" sz="1000" dirty="0">
                <a:solidFill>
                  <a:srgbClr val="FF0000"/>
                </a:solidFill>
              </a:rPr>
              <a:t> i </a:t>
            </a:r>
            <a:r>
              <a:rPr lang="de-DE" sz="1000" dirty="0" err="1">
                <a:solidFill>
                  <a:srgbClr val="FF0000"/>
                </a:solidFill>
              </a:rPr>
              <a:t>did</a:t>
            </a:r>
            <a:r>
              <a:rPr lang="de-DE" sz="1000" dirty="0">
                <a:solidFill>
                  <a:srgbClr val="FF0000"/>
                </a:solidFill>
              </a:rPr>
              <a:t>.</a:t>
            </a:r>
            <a:endParaRPr lang="de-DE" sz="1000" strike="sngStrike" dirty="0"/>
          </a:p>
          <a:p>
            <a:pPr marL="642938" lvl="1" indent="-342900">
              <a:buFont typeface="+mj-lt"/>
              <a:buAutoNum type="arabicPeriod"/>
            </a:pPr>
            <a:r>
              <a:rPr lang="de-DE" sz="1000" strike="sngStrike" dirty="0"/>
              <a:t>Try </a:t>
            </a:r>
            <a:r>
              <a:rPr lang="de-DE" sz="1000" strike="sngStrike" dirty="0" err="1"/>
              <a:t>to</a:t>
            </a:r>
            <a:r>
              <a:rPr lang="de-DE" sz="1000" strike="sngStrike" dirty="0"/>
              <a:t> </a:t>
            </a:r>
            <a:r>
              <a:rPr lang="de-DE" sz="1000" strike="sngStrike" dirty="0" err="1"/>
              <a:t>use</a:t>
            </a:r>
            <a:r>
              <a:rPr lang="de-DE" sz="1000" strike="sngStrike" dirty="0"/>
              <a:t> </a:t>
            </a:r>
            <a:r>
              <a:rPr lang="de-DE" sz="1000" strike="sngStrike" dirty="0" err="1"/>
              <a:t>thermometer</a:t>
            </a:r>
            <a:r>
              <a:rPr lang="de-DE" sz="1000" strike="sngStrike" dirty="0"/>
              <a:t> </a:t>
            </a:r>
            <a:r>
              <a:rPr lang="de-DE" sz="1000" strike="sngStrike" dirty="0" err="1"/>
              <a:t>function</a:t>
            </a:r>
            <a:r>
              <a:rPr lang="de-DE" sz="1000" strike="sngStrike" dirty="0"/>
              <a:t> </a:t>
            </a:r>
            <a:r>
              <a:rPr lang="de-DE" sz="1000" strike="sngStrike" dirty="0" err="1"/>
              <a:t>for</a:t>
            </a:r>
            <a:r>
              <a:rPr lang="de-DE" sz="1000" strike="sngStrike" dirty="0"/>
              <a:t> </a:t>
            </a:r>
            <a:r>
              <a:rPr lang="de-DE" sz="1000" strike="sngStrike" dirty="0" err="1"/>
              <a:t>temperature</a:t>
            </a:r>
            <a:r>
              <a:rPr lang="de-DE" sz="1000" strike="sngStrike" dirty="0"/>
              <a:t> </a:t>
            </a:r>
            <a:r>
              <a:rPr lang="de-DE" sz="1000" strike="sngStrike" dirty="0" err="1"/>
              <a:t>values</a:t>
            </a:r>
            <a:endParaRPr lang="de-DE" sz="1000" strike="sngStrike" dirty="0"/>
          </a:p>
          <a:p>
            <a:pPr marL="342900" indent="-342900">
              <a:buFont typeface="+mj-lt"/>
              <a:buAutoNum type="arabicPeriod"/>
            </a:pPr>
            <a:endParaRPr lang="de-DE" sz="1400" dirty="0"/>
          </a:p>
          <a:p>
            <a:pPr marL="342900" indent="-342900">
              <a:buFont typeface="+mj-lt"/>
              <a:buAutoNum type="arabicPeriod"/>
            </a:pPr>
            <a:endParaRPr lang="de-DE" sz="1400" dirty="0"/>
          </a:p>
          <a:p>
            <a:pPr marL="342900" indent="-342900">
              <a:buFont typeface="+mj-lt"/>
              <a:buAutoNum type="arabicPeriod"/>
            </a:pPr>
            <a:endParaRPr lang="de-DE" sz="1400" dirty="0"/>
          </a:p>
          <a:p>
            <a:pPr marL="342900" indent="-342900">
              <a:buFont typeface="+mj-lt"/>
              <a:buAutoNum type="arabicPeriod"/>
            </a:pPr>
            <a:endParaRPr lang="de-DE" sz="1400" dirty="0"/>
          </a:p>
          <a:p>
            <a:pPr marL="0" indent="0">
              <a:buNone/>
            </a:pPr>
            <a:r>
              <a:rPr lang="de-DE" b="1" dirty="0"/>
              <a:t>Questions / </a:t>
            </a:r>
            <a:r>
              <a:rPr lang="de-DE" b="1" dirty="0" err="1"/>
              <a:t>Ideas</a:t>
            </a:r>
            <a:endParaRPr lang="de-DE" b="1" dirty="0"/>
          </a:p>
          <a:p>
            <a:pPr marL="342900" indent="-342900">
              <a:buFont typeface="+mj-lt"/>
              <a:buAutoNum type="arabicPeriod"/>
            </a:pPr>
            <a:r>
              <a:rPr lang="de-DE" sz="1400" dirty="0" err="1"/>
              <a:t>next</a:t>
            </a:r>
            <a:r>
              <a:rPr lang="de-DE" sz="1400" dirty="0"/>
              <a:t> </a:t>
            </a:r>
            <a:r>
              <a:rPr lang="de-DE" sz="1400" dirty="0" err="1"/>
              <a:t>to</a:t>
            </a:r>
            <a:r>
              <a:rPr lang="de-DE" sz="1400" dirty="0"/>
              <a:t> </a:t>
            </a:r>
            <a:r>
              <a:rPr lang="de-DE" sz="1400" dirty="0" err="1"/>
              <a:t>the</a:t>
            </a:r>
            <a:r>
              <a:rPr lang="de-DE" sz="1400" dirty="0"/>
              <a:t> </a:t>
            </a:r>
            <a:r>
              <a:rPr lang="de-DE" sz="1400" dirty="0" err="1"/>
              <a:t>thermometers</a:t>
            </a:r>
            <a:r>
              <a:rPr lang="de-DE" sz="1400" dirty="0"/>
              <a:t> </a:t>
            </a:r>
            <a:r>
              <a:rPr lang="de-DE" sz="1400" dirty="0" err="1"/>
              <a:t>may</a:t>
            </a:r>
            <a:r>
              <a:rPr lang="de-DE" sz="1400" dirty="0"/>
              <a:t> </a:t>
            </a:r>
            <a:r>
              <a:rPr lang="de-DE" sz="1400" dirty="0" err="1"/>
              <a:t>be</a:t>
            </a:r>
            <a:r>
              <a:rPr lang="de-DE" sz="1400" dirty="0"/>
              <a:t> </a:t>
            </a:r>
            <a:r>
              <a:rPr lang="de-DE" sz="1400" dirty="0" err="1"/>
              <a:t>alarms</a:t>
            </a:r>
            <a:r>
              <a:rPr lang="de-DE" sz="1400" dirty="0"/>
              <a:t>/</a:t>
            </a:r>
            <a:r>
              <a:rPr lang="de-DE" sz="1400" dirty="0" err="1"/>
              <a:t>status</a:t>
            </a:r>
            <a:r>
              <a:rPr lang="de-DE" sz="1400" dirty="0"/>
              <a:t> </a:t>
            </a:r>
            <a:r>
              <a:rPr lang="de-DE" sz="1400" dirty="0" err="1"/>
              <a:t>for</a:t>
            </a:r>
            <a:r>
              <a:rPr lang="de-DE" sz="1400" dirty="0"/>
              <a:t> </a:t>
            </a:r>
            <a:r>
              <a:rPr lang="de-DE" sz="1400" dirty="0" err="1"/>
              <a:t>them</a:t>
            </a:r>
            <a:r>
              <a:rPr lang="de-DE" sz="1400" dirty="0"/>
              <a:t> ?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400" dirty="0" err="1"/>
              <a:t>thermometers</a:t>
            </a:r>
            <a:r>
              <a:rPr lang="de-DE" sz="1400" dirty="0"/>
              <a:t> </a:t>
            </a:r>
            <a:r>
              <a:rPr lang="de-DE" sz="1400" dirty="0" err="1"/>
              <a:t>colors</a:t>
            </a:r>
            <a:r>
              <a:rPr lang="de-DE" sz="1400" dirty="0"/>
              <a:t> / </a:t>
            </a:r>
            <a:r>
              <a:rPr lang="de-DE" sz="1400" dirty="0" err="1"/>
              <a:t>they</a:t>
            </a:r>
            <a:r>
              <a:rPr lang="de-DE" sz="1400" dirty="0"/>
              <a:t> </a:t>
            </a:r>
            <a:r>
              <a:rPr lang="de-DE" sz="1400" dirty="0" err="1"/>
              <a:t>dont</a:t>
            </a:r>
            <a:r>
              <a:rPr lang="de-DE" sz="1400" dirty="0"/>
              <a:t> </a:t>
            </a:r>
            <a:r>
              <a:rPr lang="de-DE" sz="1400" dirty="0" err="1"/>
              <a:t>show</a:t>
            </a:r>
            <a:r>
              <a:rPr lang="de-DE" sz="1400" dirty="0"/>
              <a:t> </a:t>
            </a:r>
            <a:r>
              <a:rPr lang="de-DE" sz="1400" dirty="0" err="1"/>
              <a:t>degree</a:t>
            </a:r>
            <a:r>
              <a:rPr lang="de-DE" sz="1400" dirty="0"/>
              <a:t>, i </a:t>
            </a:r>
            <a:r>
              <a:rPr lang="de-DE" sz="1400" dirty="0" err="1"/>
              <a:t>used</a:t>
            </a:r>
            <a:r>
              <a:rPr lang="de-DE" sz="1400" dirty="0"/>
              <a:t> </a:t>
            </a:r>
            <a:r>
              <a:rPr lang="de-DE" sz="1400" dirty="0" err="1"/>
              <a:t>them</a:t>
            </a:r>
            <a:r>
              <a:rPr lang="de-DE" sz="1400" dirty="0"/>
              <a:t> </a:t>
            </a:r>
            <a:r>
              <a:rPr lang="de-DE" sz="1400" dirty="0" err="1"/>
              <a:t>with</a:t>
            </a:r>
            <a:r>
              <a:rPr lang="de-DE" sz="1400" dirty="0"/>
              <a:t> </a:t>
            </a:r>
            <a:r>
              <a:rPr lang="de-DE" sz="1400" dirty="0" err="1"/>
              <a:t>text</a:t>
            </a:r>
            <a:r>
              <a:rPr lang="de-DE" sz="1400" dirty="0"/>
              <a:t> update.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400" dirty="0"/>
              <a:t>also </a:t>
            </a:r>
            <a:r>
              <a:rPr lang="de-DE" sz="1400" dirty="0" err="1"/>
              <a:t>did</a:t>
            </a:r>
            <a:r>
              <a:rPr lang="de-DE" sz="1400" dirty="0"/>
              <a:t> Chamber </a:t>
            </a:r>
            <a:r>
              <a:rPr lang="de-DE" sz="1400" dirty="0" err="1"/>
              <a:t>name</a:t>
            </a:r>
            <a:r>
              <a:rPr lang="de-DE" sz="1400" dirty="0"/>
              <a:t>, </a:t>
            </a:r>
            <a:r>
              <a:rPr lang="de-DE" sz="1400" dirty="0" err="1"/>
              <a:t>detector</a:t>
            </a:r>
            <a:r>
              <a:rPr lang="de-DE" sz="1400" dirty="0"/>
              <a:t>, </a:t>
            </a:r>
            <a:r>
              <a:rPr lang="de-DE" sz="1400" dirty="0" err="1"/>
              <a:t>board</a:t>
            </a:r>
            <a:r>
              <a:rPr lang="de-DE" sz="1400" dirty="0"/>
              <a:t> </a:t>
            </a:r>
            <a:r>
              <a:rPr lang="de-DE" sz="1400" dirty="0" err="1"/>
              <a:t>number</a:t>
            </a:r>
            <a:r>
              <a:rPr lang="de-DE" sz="1400" dirty="0"/>
              <a:t> </a:t>
            </a:r>
            <a:r>
              <a:rPr lang="de-DE" sz="1400" dirty="0" err="1"/>
              <a:t>as</a:t>
            </a:r>
            <a:r>
              <a:rPr lang="de-DE" sz="1400" dirty="0"/>
              <a:t> title </a:t>
            </a:r>
            <a:r>
              <a:rPr lang="de-DE" sz="1400" dirty="0" err="1"/>
              <a:t>of</a:t>
            </a:r>
            <a:r>
              <a:rPr lang="de-DE" sz="1400" dirty="0"/>
              <a:t> </a:t>
            </a:r>
            <a:r>
              <a:rPr lang="de-DE" sz="1400" dirty="0" err="1"/>
              <a:t>board</a:t>
            </a:r>
            <a:r>
              <a:rPr lang="de-DE" sz="1400" dirty="0"/>
              <a:t> </a:t>
            </a:r>
            <a:r>
              <a:rPr lang="de-DE" sz="1400" dirty="0" err="1"/>
              <a:t>card</a:t>
            </a:r>
            <a:endParaRPr lang="de-DE" sz="1400" dirty="0"/>
          </a:p>
          <a:p>
            <a:pPr marL="342900" indent="-342900">
              <a:buFont typeface="+mj-lt"/>
              <a:buAutoNum type="arabicPeriod"/>
            </a:pPr>
            <a:endParaRPr lang="de-DE" sz="1400" b="1" dirty="0"/>
          </a:p>
          <a:p>
            <a:pPr marL="300038" lvl="1" indent="0">
              <a:buNone/>
            </a:pP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386579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020AE-CD6F-4C87-8B44-2242F3095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Report 26.08.06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A77772D-0DBC-49CF-A5F5-2F8530CE8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0" y="1087438"/>
            <a:ext cx="8420100" cy="3678237"/>
          </a:xfrm>
        </p:spPr>
        <p:txBody>
          <a:bodyPr/>
          <a:lstStyle/>
          <a:p>
            <a:pPr marL="0" indent="0">
              <a:buNone/>
            </a:pPr>
            <a:r>
              <a:rPr lang="de-DE" b="1" dirty="0" err="1"/>
              <a:t>Suggested</a:t>
            </a:r>
            <a:endParaRPr lang="de-DE" b="1" dirty="0"/>
          </a:p>
          <a:p>
            <a:pPr marL="342900" indent="-342900">
              <a:buFont typeface="+mj-lt"/>
              <a:buAutoNum type="arabicPeriod"/>
            </a:pPr>
            <a:endParaRPr lang="de-DE" sz="1400" dirty="0"/>
          </a:p>
          <a:p>
            <a:pPr marL="342900" indent="-342900">
              <a:buFont typeface="+mj-lt"/>
              <a:buAutoNum type="arabicPeriod"/>
            </a:pPr>
            <a:endParaRPr lang="de-DE" sz="1400" dirty="0"/>
          </a:p>
          <a:p>
            <a:pPr marL="342900" indent="-342900">
              <a:buFont typeface="+mj-lt"/>
              <a:buAutoNum type="arabicPeriod"/>
            </a:pPr>
            <a:endParaRPr lang="de-DE" sz="1400" dirty="0"/>
          </a:p>
          <a:p>
            <a:pPr marL="342900" indent="-342900">
              <a:buFont typeface="+mj-lt"/>
              <a:buAutoNum type="arabicPeriod"/>
            </a:pPr>
            <a:endParaRPr lang="de-DE" sz="1400" dirty="0"/>
          </a:p>
          <a:p>
            <a:pPr marL="0" indent="0">
              <a:buNone/>
            </a:pPr>
            <a:r>
              <a:rPr lang="de-DE" b="1" dirty="0"/>
              <a:t>Questions / </a:t>
            </a:r>
            <a:r>
              <a:rPr lang="de-DE" b="1" dirty="0" err="1"/>
              <a:t>Ideas</a:t>
            </a:r>
            <a:endParaRPr lang="de-DE" b="1" dirty="0"/>
          </a:p>
          <a:p>
            <a:pPr marL="342900" indent="-342900">
              <a:buFont typeface="+mj-lt"/>
              <a:buAutoNum type="arabicPeriod"/>
            </a:pPr>
            <a:endParaRPr lang="de-DE" sz="1400" b="1" dirty="0"/>
          </a:p>
          <a:p>
            <a:pPr marL="300038" lvl="1" indent="0">
              <a:buNone/>
            </a:pP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1651617180"/>
      </p:ext>
    </p:extLst>
  </p:cSld>
  <p:clrMapOvr>
    <a:masterClrMapping/>
  </p:clrMapOvr>
</p:sld>
</file>

<file path=ppt/theme/theme1.xml><?xml version="1.0" encoding="utf-8"?>
<a:theme xmlns:a="http://schemas.openxmlformats.org/drawingml/2006/main" name="fair-gsi-folienmaster_2017_onering">
  <a:themeElements>
    <a:clrScheme name="Benutzerdefiniert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66666"/>
      </a:hlink>
      <a:folHlink>
        <a:srgbClr val="800080"/>
      </a:folHlink>
    </a:clrScheme>
    <a:fontScheme name="Office Klassisch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DBB63"/>
        </a:solidFill>
        <a:ln>
          <a:noFill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 anchor="t"/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8" id="{88F67082-FAA7-774F-81ED-C94DAF9F09F3}" vid="{76C6051D-27C6-564A-8764-CCBC0645D37F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fair-gsi-folienmaster_2019_16zu9</Template>
  <TotalTime>0</TotalTime>
  <Words>144</Words>
  <Application>Microsoft Office PowerPoint</Application>
  <PresentationFormat>On-screen Show (16:9)</PresentationFormat>
  <Paragraphs>21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Wingdings</vt:lpstr>
      <vt:lpstr>fair-gsi-folienmaster_2017_onering</vt:lpstr>
      <vt:lpstr>CSS Studio</vt:lpstr>
      <vt:lpstr>Report 26.08.05</vt:lpstr>
      <vt:lpstr>Report 26.08.06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Connector Placement Visualization in Python</dc:title>
  <dc:creator>Kalafat, Oguzhan</dc:creator>
  <cp:lastModifiedBy>Kalafat, Oguzhan</cp:lastModifiedBy>
  <cp:revision>54</cp:revision>
  <dcterms:created xsi:type="dcterms:W3CDTF">2025-09-18T14:09:33Z</dcterms:created>
  <dcterms:modified xsi:type="dcterms:W3CDTF">2026-08-06T08:13:35Z</dcterms:modified>
</cp:coreProperties>
</file>