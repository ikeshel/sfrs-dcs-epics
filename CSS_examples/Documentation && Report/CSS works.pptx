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7104063" cy="10234613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333333"/>
    <a:srgbClr val="EAEAEA"/>
    <a:srgbClr val="FDBB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55" autoAdjust="0"/>
  </p:normalViewPr>
  <p:slideViewPr>
    <p:cSldViewPr snapToGrid="0" snapToObjects="1">
      <p:cViewPr varScale="1">
        <p:scale>
          <a:sx n="214" d="100"/>
          <a:sy n="214" d="100"/>
        </p:scale>
        <p:origin x="156" y="1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B851660-0934-124D-A4B3-496C7F320307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F3A3EDE-7EBB-0F4A-80C2-34DB9D2E2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215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8C828EF-C252-394A-93BF-1C478CFA0896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AE02386-BEE7-5D4D-B4E7-4BB579C478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90198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040B52E-6118-F844-8FBE-85B6AFDC9E2A}"/>
              </a:ext>
            </a:extLst>
          </p:cNvPr>
          <p:cNvGrpSpPr/>
          <p:nvPr userDrawn="1"/>
        </p:nvGrpSpPr>
        <p:grpSpPr>
          <a:xfrm>
            <a:off x="1502578" y="976199"/>
            <a:ext cx="7426269" cy="3877686"/>
            <a:chOff x="1502578" y="976199"/>
            <a:chExt cx="7426269" cy="3877686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3FAB316F-95F1-6040-AB6B-EF23A5D58FAF}"/>
                </a:ext>
              </a:extLst>
            </p:cNvPr>
            <p:cNvSpPr/>
            <p:nvPr userDrawn="1"/>
          </p:nvSpPr>
          <p:spPr>
            <a:xfrm>
              <a:off x="7781365" y="3854824"/>
              <a:ext cx="1147482" cy="9990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dirty="0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9DE39F29-B8C0-C64D-ADFE-A8AFF963CB1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2578" y="976199"/>
              <a:ext cx="6099496" cy="3877686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151529" y="2738074"/>
            <a:ext cx="4303059" cy="584900"/>
          </a:xfrm>
        </p:spPr>
        <p:txBody>
          <a:bodyPr anchor="b" anchorCtr="0">
            <a:noAutofit/>
          </a:bodyPr>
          <a:lstStyle>
            <a:lvl1pPr algn="ctr">
              <a:defRPr sz="2400">
                <a:solidFill>
                  <a:srgbClr val="66666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151529" y="3322973"/>
            <a:ext cx="4303060" cy="531851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3" name="Rechteck 12"/>
          <p:cNvSpPr/>
          <p:nvPr userDrawn="1"/>
        </p:nvSpPr>
        <p:spPr>
          <a:xfrm>
            <a:off x="404091" y="4987636"/>
            <a:ext cx="3371273" cy="155864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</p:spTree>
    <p:extLst>
      <p:ext uri="{BB962C8B-B14F-4D97-AF65-F5344CB8AC3E}">
        <p14:creationId xmlns:p14="http://schemas.microsoft.com/office/powerpoint/2010/main" val="2409936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22568" y="230397"/>
            <a:ext cx="6700979" cy="59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BDDA-5CCF-8748-8988-9DC6C898177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>
          <a:xfrm>
            <a:off x="7123547" y="4914483"/>
            <a:ext cx="82528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31.03.14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3962401" y="4920459"/>
            <a:ext cx="3136599" cy="2678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rgbClr val="333333"/>
                </a:solidFill>
              </a:defRPr>
            </a:lvl1pPr>
          </a:lstStyle>
          <a:p>
            <a:pPr algn="l"/>
            <a:r>
              <a:rPr lang="de-DE"/>
              <a:t>Name/Vortragstitel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7664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BDDA-5CCF-8748-8988-9DC6C898177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Datumsplatzhalter 4"/>
          <p:cNvSpPr>
            <a:spLocks noGrp="1"/>
          </p:cNvSpPr>
          <p:nvPr>
            <p:ph type="dt" sz="half" idx="13"/>
          </p:nvPr>
        </p:nvSpPr>
        <p:spPr>
          <a:xfrm>
            <a:off x="7099001" y="4914483"/>
            <a:ext cx="8498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31.03.14</a:t>
            </a:r>
            <a:endParaRPr lang="de-DE" dirty="0"/>
          </a:p>
        </p:txBody>
      </p:sp>
      <p:sp>
        <p:nvSpPr>
          <p:cNvPr id="9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3962401" y="4920459"/>
            <a:ext cx="3136599" cy="2678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rgbClr val="333333"/>
                </a:solidFill>
              </a:defRPr>
            </a:lvl1pPr>
          </a:lstStyle>
          <a:p>
            <a:pPr algn="l"/>
            <a:r>
              <a:rPr lang="de-DE"/>
              <a:t>Name/Vortragstitel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602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BDDA-5CCF-8748-8988-9DC6C8981774}" type="slidenum">
              <a:rPr lang="de-DE" smtClean="0"/>
              <a:t>‹#›</a:t>
            </a:fld>
            <a:endParaRPr lang="de-DE"/>
          </a:p>
        </p:txBody>
      </p:sp>
      <p:sp>
        <p:nvSpPr>
          <p:cNvPr id="4" name="Datumsplatzhalter 4"/>
          <p:cNvSpPr>
            <a:spLocks noGrp="1"/>
          </p:cNvSpPr>
          <p:nvPr>
            <p:ph type="dt" sz="half" idx="2"/>
          </p:nvPr>
        </p:nvSpPr>
        <p:spPr>
          <a:xfrm>
            <a:off x="7099001" y="4914483"/>
            <a:ext cx="8498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31.03.14</a:t>
            </a:r>
            <a:endParaRPr lang="de-DE" dirty="0"/>
          </a:p>
        </p:txBody>
      </p:sp>
      <p:sp>
        <p:nvSpPr>
          <p:cNvPr id="7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3962401" y="4920459"/>
            <a:ext cx="3136599" cy="2678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rgbClr val="333333"/>
                </a:solidFill>
              </a:defRPr>
            </a:lvl1pPr>
          </a:lstStyle>
          <a:p>
            <a:pPr algn="l"/>
            <a:r>
              <a:rPr lang="de-DE"/>
              <a:t>Name/Vortragstitel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979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943494DA-FA9D-1447-B70B-2896FD77F5D0}"/>
              </a:ext>
            </a:extLst>
          </p:cNvPr>
          <p:cNvCxnSpPr/>
          <p:nvPr userDrawn="1"/>
        </p:nvCxnSpPr>
        <p:spPr>
          <a:xfrm>
            <a:off x="0" y="5049583"/>
            <a:ext cx="9144000" cy="0"/>
          </a:xfrm>
          <a:prstGeom prst="line">
            <a:avLst/>
          </a:prstGeom>
          <a:ln w="20320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Bild 6" descr="GSI_Logo_rgb.png">
            <a:extLst>
              <a:ext uri="{FF2B5EF4-FFF2-40B4-BE49-F238E27FC236}">
                <a16:creationId xmlns:a16="http://schemas.microsoft.com/office/drawing/2014/main" id="{0E0D4DB1-EEDA-A644-B002-75EBF9968E0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839" y="363875"/>
            <a:ext cx="1129081" cy="376361"/>
          </a:xfrm>
          <a:prstGeom prst="rect">
            <a:avLst/>
          </a:prstGeom>
        </p:spPr>
      </p:pic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2AC6B5F8-0827-6645-B5C9-ED4385971D8F}"/>
              </a:ext>
            </a:extLst>
          </p:cNvPr>
          <p:cNvCxnSpPr/>
          <p:nvPr userDrawn="1"/>
        </p:nvCxnSpPr>
        <p:spPr>
          <a:xfrm>
            <a:off x="0" y="826224"/>
            <a:ext cx="9144000" cy="0"/>
          </a:xfrm>
          <a:prstGeom prst="line">
            <a:avLst/>
          </a:prstGeom>
          <a:ln w="20320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CC9BBC89-C94F-2342-BFB0-0C52DC04C485}"/>
              </a:ext>
            </a:extLst>
          </p:cNvPr>
          <p:cNvSpPr>
            <a:spLocks/>
          </p:cNvSpPr>
          <p:nvPr userDrawn="1"/>
        </p:nvSpPr>
        <p:spPr>
          <a:xfrm>
            <a:off x="-1" y="727074"/>
            <a:ext cx="201600" cy="201600"/>
          </a:xfrm>
          <a:prstGeom prst="rect">
            <a:avLst/>
          </a:prstGeom>
          <a:solidFill>
            <a:srgbClr val="FDB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E807027-043F-224A-B8A1-2EA6FD7AA9B7}"/>
              </a:ext>
            </a:extLst>
          </p:cNvPr>
          <p:cNvSpPr>
            <a:spLocks/>
          </p:cNvSpPr>
          <p:nvPr userDrawn="1"/>
        </p:nvSpPr>
        <p:spPr>
          <a:xfrm>
            <a:off x="-1" y="4949824"/>
            <a:ext cx="203277" cy="203277"/>
          </a:xfrm>
          <a:prstGeom prst="rect">
            <a:avLst/>
          </a:prstGeom>
          <a:solidFill>
            <a:srgbClr val="FDB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17635" y="1088015"/>
            <a:ext cx="8420176" cy="367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015792" y="4914482"/>
            <a:ext cx="74489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rgbClr val="333333"/>
                </a:solidFill>
                <a:latin typeface="Arial"/>
                <a:cs typeface="Arial"/>
              </a:defRPr>
            </a:lvl1pPr>
          </a:lstStyle>
          <a:p>
            <a:fld id="{125CBDDA-5CCF-8748-8988-9DC6C898177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435270" y="4950517"/>
            <a:ext cx="3527133" cy="2077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750" dirty="0">
                <a:solidFill>
                  <a:srgbClr val="333333"/>
                </a:solidFill>
                <a:latin typeface="Arial"/>
                <a:cs typeface="Arial"/>
              </a:rPr>
              <a:t>GSI Helmholtzzentrum für Schwerionenforschung GmbH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17638" y="231075"/>
            <a:ext cx="6129236" cy="59066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>
          <a:xfrm>
            <a:off x="7151256" y="4914482"/>
            <a:ext cx="84837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rgbClr val="333333"/>
                </a:solidFill>
              </a:defRPr>
            </a:lvl1pPr>
          </a:lstStyle>
          <a:p>
            <a:r>
              <a:rPr lang="de-DE"/>
              <a:t>31.03.14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4013201" y="4920458"/>
            <a:ext cx="3136599" cy="2678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rgbClr val="333333"/>
                </a:solidFill>
              </a:defRPr>
            </a:lvl1pPr>
          </a:lstStyle>
          <a:p>
            <a:pPr algn="l"/>
            <a:r>
              <a:rPr lang="de-DE"/>
              <a:t>Name/Vortragstitel</a:t>
            </a:r>
            <a:endParaRPr lang="de-DE" dirty="0"/>
          </a:p>
        </p:txBody>
      </p:sp>
      <p:pic>
        <p:nvPicPr>
          <p:cNvPr id="13" name="Bild 12" descr="FAIR_Logo_rgb.png">
            <a:extLst>
              <a:ext uri="{FF2B5EF4-FFF2-40B4-BE49-F238E27FC236}">
                <a16:creationId xmlns:a16="http://schemas.microsoft.com/office/drawing/2014/main" id="{6EBF7B64-1F60-354C-83F5-CFA893F204B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0829" y="206825"/>
            <a:ext cx="775055" cy="64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8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1800" b="1" kern="1200">
          <a:solidFill>
            <a:srgbClr val="333333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Clr>
          <a:srgbClr val="FDBB63"/>
        </a:buClr>
        <a:buFont typeface="Wingdings" charset="2"/>
        <a:buChar char="§"/>
        <a:defRPr sz="1800" kern="1200">
          <a:solidFill>
            <a:srgbClr val="333333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Clr>
          <a:srgbClr val="FDBB63"/>
        </a:buClr>
        <a:buFont typeface="Wingdings" charset="2"/>
        <a:buChar char="§"/>
        <a:defRPr sz="1500" kern="1200">
          <a:solidFill>
            <a:srgbClr val="333333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Clr>
          <a:srgbClr val="FDBB63"/>
        </a:buClr>
        <a:buFont typeface="Wingdings" charset="2"/>
        <a:buChar char="§"/>
        <a:defRPr sz="1350" kern="1200">
          <a:solidFill>
            <a:srgbClr val="333333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Clr>
          <a:srgbClr val="FDBB63"/>
        </a:buClr>
        <a:buFont typeface="Wingdings" charset="2"/>
        <a:buChar char="§"/>
        <a:defRPr sz="1200" kern="1200">
          <a:solidFill>
            <a:srgbClr val="333333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Clr>
          <a:srgbClr val="FDBB63"/>
        </a:buClr>
        <a:buFont typeface="Wingdings" charset="2"/>
        <a:buChar char="§"/>
        <a:defRPr sz="1050" kern="1200">
          <a:solidFill>
            <a:srgbClr val="333333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Studio</a:t>
            </a:r>
          </a:p>
        </p:txBody>
      </p:sp>
    </p:spTree>
    <p:extLst>
      <p:ext uri="{BB962C8B-B14F-4D97-AF65-F5344CB8AC3E}">
        <p14:creationId xmlns:p14="http://schemas.microsoft.com/office/powerpoint/2010/main" val="391019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718E-8BA5-4072-B676-7597595DF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EA7C9-E068-492F-B57E-595726FEF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635" y="1088015"/>
            <a:ext cx="8420176" cy="3669336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Existing</a:t>
            </a:r>
            <a:r>
              <a:rPr lang="de-DE" sz="1400" dirty="0"/>
              <a:t> </a:t>
            </a:r>
            <a:r>
              <a:rPr lang="de-DE" sz="1400" dirty="0" err="1"/>
              <a:t>example</a:t>
            </a:r>
            <a:r>
              <a:rPr lang="de-DE" sz="1400" dirty="0"/>
              <a:t> </a:t>
            </a:r>
            <a:r>
              <a:rPr lang="de-DE" sz="1400" dirty="0" err="1"/>
              <a:t>should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improved</a:t>
            </a:r>
            <a:r>
              <a:rPr lang="de-DE" sz="1400" dirty="0"/>
              <a:t> </a:t>
            </a:r>
          </a:p>
          <a:p>
            <a:pPr marL="642938" lvl="1" indent="-342900">
              <a:buFont typeface="+mj-lt"/>
              <a:buAutoNum type="arabicPeriod"/>
            </a:pPr>
            <a:r>
              <a:rPr lang="de-DE" sz="1000" strike="sngStrike" dirty="0" err="1"/>
              <a:t>Make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as</a:t>
            </a:r>
            <a:r>
              <a:rPr lang="de-DE" sz="1000" strike="sngStrike" dirty="0"/>
              <a:t> an </a:t>
            </a:r>
            <a:r>
              <a:rPr lang="de-DE" sz="1000" strike="sngStrike" dirty="0" err="1"/>
              <a:t>object</a:t>
            </a:r>
            <a:r>
              <a:rPr lang="de-DE" sz="1000" strike="sngStrike" dirty="0"/>
              <a:t>, </a:t>
            </a:r>
            <a:r>
              <a:rPr lang="de-DE" sz="1000" strike="sngStrike" dirty="0" err="1"/>
              <a:t>create</a:t>
            </a:r>
            <a:r>
              <a:rPr lang="de-DE" sz="1000" strike="sngStrike" dirty="0"/>
              <a:t> a </a:t>
            </a:r>
            <a:r>
              <a:rPr lang="de-DE" sz="1000" strike="sngStrike" dirty="0" err="1"/>
              <a:t>template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which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has</a:t>
            </a:r>
            <a:r>
              <a:rPr lang="de-DE" sz="1000" strike="sngStrike" dirty="0"/>
              <a:t> 4 </a:t>
            </a:r>
            <a:r>
              <a:rPr lang="de-DE" sz="1000" strike="sngStrike" dirty="0" err="1"/>
              <a:t>values</a:t>
            </a:r>
            <a:r>
              <a:rPr lang="de-DE" sz="1000" strike="sngStrike" dirty="0"/>
              <a:t> FPGA </a:t>
            </a:r>
            <a:r>
              <a:rPr lang="de-DE" sz="1000" strike="sngStrike" dirty="0" err="1"/>
              <a:t>temp</a:t>
            </a:r>
            <a:r>
              <a:rPr lang="de-DE" sz="1000" strike="sngStrike" dirty="0"/>
              <a:t>, </a:t>
            </a:r>
            <a:r>
              <a:rPr lang="de-DE" sz="1000" strike="sngStrike" dirty="0" err="1"/>
              <a:t>SiPM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temp</a:t>
            </a:r>
            <a:r>
              <a:rPr lang="de-DE" sz="1000" strike="sngStrike" dirty="0"/>
              <a:t>, Bias Set | RBV | STATE, </a:t>
            </a:r>
            <a:r>
              <a:rPr lang="de-DE" sz="1000" strike="sngStrike" dirty="0" err="1"/>
              <a:t>voltage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values</a:t>
            </a:r>
            <a:r>
              <a:rPr lang="de-DE" sz="1000" strike="sngStrike" dirty="0"/>
              <a:t> -&gt; STATE </a:t>
            </a:r>
            <a:r>
              <a:rPr lang="de-DE" sz="1000" strike="sngStrike" dirty="0" err="1"/>
              <a:t>should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be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defined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the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colour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of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voltage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if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the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difference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between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voltage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bigger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than</a:t>
            </a:r>
            <a:r>
              <a:rPr lang="de-DE" sz="1000" strike="sngStrike" dirty="0"/>
              <a:t> 0.6V </a:t>
            </a:r>
            <a:r>
              <a:rPr lang="de-DE" sz="1000" strike="sngStrike" dirty="0" err="1"/>
              <a:t>should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be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red</a:t>
            </a:r>
            <a:r>
              <a:rPr lang="de-DE" sz="1000" strike="sngStrike" dirty="0"/>
              <a:t>, </a:t>
            </a:r>
            <a:r>
              <a:rPr lang="de-DE" sz="1000" strike="sngStrike" dirty="0" err="1"/>
              <a:t>less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than</a:t>
            </a:r>
            <a:r>
              <a:rPr lang="de-DE" sz="1000" strike="sngStrike" dirty="0"/>
              <a:t> 0.6 </a:t>
            </a:r>
            <a:r>
              <a:rPr lang="de-DE" sz="1000" strike="sngStrike" dirty="0" err="1"/>
              <a:t>green</a:t>
            </a:r>
            <a:r>
              <a:rPr lang="de-DE" sz="1000" strike="sngStrike" dirty="0"/>
              <a:t>) </a:t>
            </a:r>
            <a:r>
              <a:rPr lang="de-DE" sz="1000" dirty="0">
                <a:solidFill>
                  <a:srgbClr val="FF0000"/>
                </a:solidFill>
              </a:rPr>
              <a:t>-&gt; I </a:t>
            </a:r>
            <a:r>
              <a:rPr lang="de-DE" sz="1000" dirty="0" err="1">
                <a:solidFill>
                  <a:srgbClr val="FF0000"/>
                </a:solidFill>
              </a:rPr>
              <a:t>used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embedded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display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option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then</a:t>
            </a:r>
            <a:r>
              <a:rPr lang="de-DE" sz="1000" dirty="0">
                <a:solidFill>
                  <a:srgbClr val="FF0000"/>
                </a:solidFill>
              </a:rPr>
              <a:t> i </a:t>
            </a:r>
            <a:r>
              <a:rPr lang="de-DE" sz="1000" dirty="0" err="1">
                <a:solidFill>
                  <a:srgbClr val="FF0000"/>
                </a:solidFill>
              </a:rPr>
              <a:t>use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macro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for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each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board</a:t>
            </a:r>
            <a:r>
              <a:rPr lang="de-DE" sz="1000" dirty="0">
                <a:solidFill>
                  <a:srgbClr val="FF0000"/>
                </a:solidFill>
              </a:rPr>
              <a:t>, </a:t>
            </a:r>
            <a:r>
              <a:rPr lang="de-DE" sz="1000" dirty="0" err="1">
                <a:solidFill>
                  <a:srgbClr val="FF0000"/>
                </a:solidFill>
              </a:rPr>
              <a:t>it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is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easier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than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first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one</a:t>
            </a:r>
            <a:r>
              <a:rPr lang="de-DE" sz="1000" dirty="0">
                <a:solidFill>
                  <a:srgbClr val="FF0000"/>
                </a:solidFill>
              </a:rPr>
              <a:t> i </a:t>
            </a:r>
            <a:r>
              <a:rPr lang="de-DE" sz="1000" dirty="0" err="1">
                <a:solidFill>
                  <a:srgbClr val="FF0000"/>
                </a:solidFill>
              </a:rPr>
              <a:t>did</a:t>
            </a:r>
            <a:r>
              <a:rPr lang="de-DE" sz="1000" dirty="0">
                <a:solidFill>
                  <a:srgbClr val="FF0000"/>
                </a:solidFill>
              </a:rPr>
              <a:t>.</a:t>
            </a:r>
            <a:endParaRPr lang="de-DE" sz="1000" strike="sngStrike" dirty="0"/>
          </a:p>
          <a:p>
            <a:pPr marL="642938" lvl="1" indent="-342900">
              <a:buFont typeface="+mj-lt"/>
              <a:buAutoNum type="arabicPeriod"/>
            </a:pPr>
            <a:r>
              <a:rPr lang="de-DE" sz="1000" strike="sngStrike" dirty="0"/>
              <a:t>Try </a:t>
            </a:r>
            <a:r>
              <a:rPr lang="de-DE" sz="1000" strike="sngStrike" dirty="0" err="1"/>
              <a:t>to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use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thermometer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function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for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temperature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values</a:t>
            </a:r>
            <a:endParaRPr lang="de-DE" sz="1000" strike="sngStrike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next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thermometers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alarms</a:t>
            </a:r>
            <a:r>
              <a:rPr lang="de-DE" sz="1400" dirty="0"/>
              <a:t>/</a:t>
            </a:r>
            <a:r>
              <a:rPr lang="de-DE" sz="1400" dirty="0" err="1"/>
              <a:t>status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them</a:t>
            </a:r>
            <a:r>
              <a:rPr lang="de-DE" sz="1400" dirty="0"/>
              <a:t> 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thermometers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colors</a:t>
            </a:r>
            <a:r>
              <a:rPr lang="de-DE" sz="1400" strike="sngStrike" dirty="0"/>
              <a:t> / </a:t>
            </a:r>
            <a:r>
              <a:rPr lang="de-DE" sz="1400" strike="sngStrike" dirty="0" err="1"/>
              <a:t>they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dont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show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degree</a:t>
            </a:r>
            <a:r>
              <a:rPr lang="de-DE" sz="1400" strike="sngStrike" dirty="0"/>
              <a:t>, i </a:t>
            </a:r>
            <a:r>
              <a:rPr lang="de-DE" sz="1400" strike="sngStrike" dirty="0" err="1"/>
              <a:t>used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them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with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text</a:t>
            </a:r>
            <a:r>
              <a:rPr lang="de-DE" sz="1400" strike="sngStrike" dirty="0"/>
              <a:t> update.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/>
              <a:t>also </a:t>
            </a:r>
            <a:r>
              <a:rPr lang="de-DE" sz="1400" strike="sngStrike" dirty="0" err="1"/>
              <a:t>did</a:t>
            </a:r>
            <a:r>
              <a:rPr lang="de-DE" sz="1400" strike="sngStrike" dirty="0"/>
              <a:t> Chamber </a:t>
            </a:r>
            <a:r>
              <a:rPr lang="de-DE" sz="1400" strike="sngStrike" dirty="0" err="1"/>
              <a:t>name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detector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board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number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as</a:t>
            </a:r>
            <a:r>
              <a:rPr lang="de-DE" sz="1400" strike="sngStrike" dirty="0"/>
              <a:t> title </a:t>
            </a:r>
            <a:r>
              <a:rPr lang="de-DE" sz="1400" strike="sngStrike" dirty="0" err="1"/>
              <a:t>of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board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card</a:t>
            </a:r>
            <a:r>
              <a:rPr lang="de-DE" sz="1400" strike="sngStrike" dirty="0"/>
              <a:t> </a:t>
            </a:r>
            <a:r>
              <a:rPr lang="de-DE" sz="1400" dirty="0">
                <a:solidFill>
                  <a:srgbClr val="FF0000"/>
                </a:solidFill>
              </a:rPr>
              <a:t>(</a:t>
            </a:r>
            <a:r>
              <a:rPr lang="de-DE" sz="1400" dirty="0" err="1">
                <a:solidFill>
                  <a:srgbClr val="FF0000"/>
                </a:solidFill>
              </a:rPr>
              <a:t>did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it</a:t>
            </a:r>
            <a:r>
              <a:rPr lang="de-DE" sz="1400" dirty="0">
                <a:solidFill>
                  <a:srgbClr val="FF0000"/>
                </a:solidFill>
              </a:rPr>
              <a:t> but </a:t>
            </a:r>
            <a:r>
              <a:rPr lang="de-DE" sz="1400" dirty="0" err="1">
                <a:solidFill>
                  <a:srgbClr val="FF0000"/>
                </a:solidFill>
              </a:rPr>
              <a:t>then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decided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to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name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only</a:t>
            </a:r>
            <a:r>
              <a:rPr lang="de-DE" sz="1400" dirty="0">
                <a:solidFill>
                  <a:srgbClr val="FF0000"/>
                </a:solidFill>
              </a:rPr>
              <a:t> „Board (BOARD_NUMBER)“</a:t>
            </a:r>
            <a:endParaRPr lang="de-DE" sz="1400" strike="sngStrike" dirty="0"/>
          </a:p>
          <a:p>
            <a:pPr marL="342900" indent="-342900">
              <a:buFont typeface="+mj-lt"/>
              <a:buAutoNum type="arabicPeriod"/>
            </a:pPr>
            <a:endParaRPr lang="de-DE" sz="1400" b="1" dirty="0"/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86579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07EB-96BE-4214-997D-D5198E71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– Day 1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9603E8E-7AAD-486B-8FE8-DF3D7A40F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3797" y="1087438"/>
            <a:ext cx="4987505" cy="3678237"/>
          </a:xfrm>
        </p:spPr>
      </p:pic>
    </p:spTree>
    <p:extLst>
      <p:ext uri="{BB962C8B-B14F-4D97-AF65-F5344CB8AC3E}">
        <p14:creationId xmlns:p14="http://schemas.microsoft.com/office/powerpoint/2010/main" val="880007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26.08.06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use</a:t>
            </a:r>
            <a:r>
              <a:rPr lang="de-DE" sz="1400" dirty="0"/>
              <a:t> .</a:t>
            </a:r>
            <a:r>
              <a:rPr lang="de-DE" sz="1400" dirty="0" err="1"/>
              <a:t>yaml</a:t>
            </a:r>
            <a:r>
              <a:rPr lang="de-DE" sz="1400" dirty="0"/>
              <a:t> </a:t>
            </a:r>
            <a:r>
              <a:rPr lang="de-DE" sz="1400" dirty="0" err="1"/>
              <a:t>file</a:t>
            </a:r>
            <a:r>
              <a:rPr lang="de-DE" sz="1400" dirty="0"/>
              <a:t>, </a:t>
            </a:r>
            <a:r>
              <a:rPr lang="de-DE" sz="1400" strike="sngStrike" dirty="0" err="1"/>
              <a:t>create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tabbs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for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each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chamber</a:t>
            </a:r>
            <a:r>
              <a:rPr lang="de-DE" sz="1400" dirty="0"/>
              <a:t>, </a:t>
            </a:r>
            <a:r>
              <a:rPr lang="de-DE" sz="1400" strike="sngStrike" dirty="0" err="1"/>
              <a:t>chamber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titles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should</a:t>
            </a:r>
            <a:r>
              <a:rPr lang="de-DE" sz="1400" strike="sngStrike" dirty="0"/>
              <a:t> </a:t>
            </a:r>
            <a:r>
              <a:rPr lang="de-DE" sz="1400" dirty="0"/>
              <a:t>„</a:t>
            </a:r>
            <a:r>
              <a:rPr lang="de-DE" sz="1400" strike="sngStrike" dirty="0"/>
              <a:t>CHAMBER_NAME-DETECTOR“,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for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first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chamber</a:t>
            </a:r>
            <a:r>
              <a:rPr lang="de-DE" sz="1400" strike="sngStrike" dirty="0"/>
              <a:t> (FPF2 SCIFI1) </a:t>
            </a:r>
            <a:r>
              <a:rPr lang="de-DE" sz="1400" strike="sngStrike" dirty="0" err="1"/>
              <a:t>caput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some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values</a:t>
            </a:r>
            <a:r>
              <a:rPr lang="de-DE" sz="1400" strike="sngStrike" dirty="0"/>
              <a:t> and </a:t>
            </a:r>
            <a:r>
              <a:rPr lang="de-DE" sz="1400" strike="sngStrike" dirty="0" err="1"/>
              <a:t>test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it</a:t>
            </a:r>
            <a:r>
              <a:rPr lang="de-DE" sz="14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update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template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last </a:t>
            </a:r>
            <a:r>
              <a:rPr lang="de-DE" sz="1400" dirty="0" err="1"/>
              <a:t>commit</a:t>
            </a:r>
            <a:r>
              <a:rPr lang="de-DE" sz="1400" dirty="0"/>
              <a:t> </a:t>
            </a:r>
            <a:r>
              <a:rPr lang="de-DE" sz="1400" dirty="0" err="1"/>
              <a:t>rule</a:t>
            </a:r>
            <a:r>
              <a:rPr lang="de-DE" sz="1400" dirty="0"/>
              <a:t> </a:t>
            </a:r>
            <a:r>
              <a:rPr lang="de-DE" sz="1400" dirty="0" err="1"/>
              <a:t>iraklis</a:t>
            </a:r>
            <a:r>
              <a:rPr lang="de-DE" sz="1400" dirty="0"/>
              <a:t> </a:t>
            </a:r>
            <a:r>
              <a:rPr lang="de-DE" sz="1400" dirty="0" err="1"/>
              <a:t>file</a:t>
            </a:r>
            <a:r>
              <a:rPr lang="de-DE" sz="1400" dirty="0"/>
              <a:t> (</a:t>
            </a:r>
            <a:r>
              <a:rPr lang="de-DE" sz="1400" dirty="0" err="1"/>
              <a:t>bias</a:t>
            </a:r>
            <a:r>
              <a:rPr lang="de-DE" sz="1400" dirty="0"/>
              <a:t> </a:t>
            </a:r>
            <a:r>
              <a:rPr lang="de-DE" sz="1400" dirty="0" err="1"/>
              <a:t>set</a:t>
            </a:r>
            <a:r>
              <a:rPr lang="de-DE" sz="1400" dirty="0"/>
              <a:t>, RBV STATE </a:t>
            </a:r>
            <a:r>
              <a:rPr lang="de-DE" sz="1400" dirty="0" err="1"/>
              <a:t>files</a:t>
            </a:r>
            <a:r>
              <a:rPr lang="de-DE" sz="1400" dirty="0"/>
              <a:t> etc.)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endParaRPr lang="de-DE" sz="1400" b="1" dirty="0"/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65161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07EB-96BE-4214-997D-D5198E71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– Day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D1445A-E917-4183-8948-583896325B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665" y="970049"/>
            <a:ext cx="4036946" cy="370698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C668C5-10BB-40AD-AE20-C40B52381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391" y="970049"/>
            <a:ext cx="4036946" cy="370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2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two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tabs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system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first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detector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name</a:t>
            </a:r>
            <a:r>
              <a:rPr lang="de-DE" sz="1400" strike="sngStrike" dirty="0"/>
              <a:t> (</a:t>
            </a:r>
            <a:r>
              <a:rPr lang="de-DE" sz="1400" strike="sngStrike" dirty="0" err="1"/>
              <a:t>scifi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plsci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music</a:t>
            </a:r>
            <a:r>
              <a:rPr lang="de-DE" sz="1400" strike="sngStrike" dirty="0"/>
              <a:t>) -&gt; </a:t>
            </a:r>
            <a:r>
              <a:rPr lang="de-DE" sz="1400" strike="sngStrike" dirty="0" err="1"/>
              <a:t>chamber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name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each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one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should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have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one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embedded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display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should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show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whole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system</a:t>
            </a:r>
            <a:endParaRPr lang="de-DE" sz="1400" strike="sngStrike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caput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values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for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tests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for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chambers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that</a:t>
            </a:r>
            <a:r>
              <a:rPr lang="de-DE" sz="1400" strike="sngStrike" dirty="0"/>
              <a:t> do not </a:t>
            </a:r>
            <a:r>
              <a:rPr lang="de-DE" sz="1400" strike="sngStrike" dirty="0" err="1"/>
              <a:t>have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any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value</a:t>
            </a:r>
            <a:r>
              <a:rPr lang="de-DE" sz="1400" strike="sngStrike" dirty="0"/>
              <a:t> </a:t>
            </a:r>
            <a:r>
              <a:rPr lang="de-DE" sz="1400" dirty="0">
                <a:solidFill>
                  <a:srgbClr val="FF0000"/>
                </a:solidFill>
              </a:rPr>
              <a:t>(</a:t>
            </a:r>
            <a:r>
              <a:rPr lang="de-DE" sz="1400" dirty="0" err="1">
                <a:solidFill>
                  <a:srgbClr val="FF0000"/>
                </a:solidFill>
              </a:rPr>
              <a:t>did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it</a:t>
            </a:r>
            <a:r>
              <a:rPr lang="de-DE" sz="1400" dirty="0">
                <a:solidFill>
                  <a:srgbClr val="FF0000"/>
                </a:solidFill>
              </a:rPr>
              <a:t> but </a:t>
            </a:r>
            <a:r>
              <a:rPr lang="de-DE" sz="1400" dirty="0" err="1">
                <a:solidFill>
                  <a:srgbClr val="FF0000"/>
                </a:solidFill>
              </a:rPr>
              <a:t>then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they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were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resetted</a:t>
            </a:r>
            <a:r>
              <a:rPr lang="de-DE" sz="1400" dirty="0">
                <a:solidFill>
                  <a:srgbClr val="FF0000"/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update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template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last </a:t>
            </a:r>
            <a:r>
              <a:rPr lang="de-DE" sz="1400" dirty="0" err="1"/>
              <a:t>commit</a:t>
            </a:r>
            <a:r>
              <a:rPr lang="de-DE" sz="1400" dirty="0"/>
              <a:t> </a:t>
            </a:r>
            <a:r>
              <a:rPr lang="de-DE" sz="1400" dirty="0" err="1"/>
              <a:t>rule</a:t>
            </a:r>
            <a:r>
              <a:rPr lang="de-DE" sz="1400" dirty="0"/>
              <a:t> </a:t>
            </a:r>
            <a:r>
              <a:rPr lang="de-DE" sz="1400" dirty="0" err="1"/>
              <a:t>iraklis</a:t>
            </a:r>
            <a:r>
              <a:rPr lang="de-DE" sz="1400" dirty="0"/>
              <a:t> </a:t>
            </a:r>
            <a:r>
              <a:rPr lang="de-DE" sz="1400" dirty="0" err="1"/>
              <a:t>file</a:t>
            </a:r>
            <a:r>
              <a:rPr lang="de-DE" sz="1400" dirty="0"/>
              <a:t> (</a:t>
            </a:r>
            <a:r>
              <a:rPr lang="de-DE" sz="1400" dirty="0" err="1"/>
              <a:t>bias</a:t>
            </a:r>
            <a:r>
              <a:rPr lang="de-DE" sz="1400" dirty="0"/>
              <a:t> </a:t>
            </a:r>
            <a:r>
              <a:rPr lang="de-DE" sz="1400" dirty="0" err="1"/>
              <a:t>set</a:t>
            </a:r>
            <a:r>
              <a:rPr lang="de-DE" sz="1400" dirty="0"/>
              <a:t>, RBV STATE </a:t>
            </a:r>
            <a:r>
              <a:rPr lang="de-DE" sz="1400" dirty="0" err="1"/>
              <a:t>files</a:t>
            </a:r>
            <a:r>
              <a:rPr lang="de-DE" sz="1400" dirty="0"/>
              <a:t> etc.)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endParaRPr lang="de-DE" sz="1400" b="1" dirty="0"/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95413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07EB-96BE-4214-997D-D5198E71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– Day 3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185B382-0E32-45AE-B39F-793B6655B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567" y="957692"/>
            <a:ext cx="8251875" cy="3928137"/>
          </a:xfrm>
        </p:spPr>
      </p:pic>
    </p:spTree>
    <p:extLst>
      <p:ext uri="{BB962C8B-B14F-4D97-AF65-F5344CB8AC3E}">
        <p14:creationId xmlns:p14="http://schemas.microsoft.com/office/powerpoint/2010/main" val="356037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26.08.11-12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try</a:t>
            </a:r>
            <a:r>
              <a:rPr lang="de-DE" sz="1400" dirty="0"/>
              <a:t> </a:t>
            </a:r>
            <a:r>
              <a:rPr lang="de-DE" sz="1400" dirty="0" err="1"/>
              <a:t>some</a:t>
            </a:r>
            <a:r>
              <a:rPr lang="de-DE" sz="1400" dirty="0"/>
              <a:t> </a:t>
            </a:r>
            <a:r>
              <a:rPr lang="de-DE" sz="1400" dirty="0" err="1"/>
              <a:t>widgets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/>
              <a:t>update </a:t>
            </a:r>
            <a:r>
              <a:rPr lang="de-DE" sz="1400" strike="sngStrike" dirty="0" err="1"/>
              <a:t>the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template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to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</a:t>
            </a:r>
            <a:r>
              <a:rPr lang="de-DE" sz="1400" strike="sngStrike" dirty="0"/>
              <a:t> last </a:t>
            </a:r>
            <a:r>
              <a:rPr lang="de-DE" sz="1400" strike="sngStrike" dirty="0" err="1"/>
              <a:t>commit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rule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iraklis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file</a:t>
            </a:r>
            <a:r>
              <a:rPr lang="de-DE" sz="1400" strike="sngStrike" dirty="0"/>
              <a:t> (</a:t>
            </a:r>
            <a:r>
              <a:rPr lang="de-DE" sz="1400" strike="sngStrike" dirty="0" err="1"/>
              <a:t>bias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set</a:t>
            </a:r>
            <a:r>
              <a:rPr lang="de-DE" sz="1400" strike="sngStrike" dirty="0"/>
              <a:t>, RBV STATE </a:t>
            </a:r>
            <a:r>
              <a:rPr lang="de-DE" sz="1400" strike="sngStrike" dirty="0" err="1"/>
              <a:t>files</a:t>
            </a:r>
            <a:r>
              <a:rPr lang="de-DE" sz="1400" strike="sngStrike" dirty="0"/>
              <a:t> etc.)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add</a:t>
            </a:r>
            <a:r>
              <a:rPr lang="de-DE" sz="1400" strike="sngStrike" dirty="0"/>
              <a:t> and update </a:t>
            </a:r>
            <a:r>
              <a:rPr lang="de-DE" sz="1400" strike="sngStrike" dirty="0" err="1"/>
              <a:t>values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for</a:t>
            </a:r>
            <a:r>
              <a:rPr lang="de-DE" sz="1400" strike="sngStrike" dirty="0"/>
              <a:t> FPF2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thermometer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alarm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to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color</a:t>
            </a:r>
            <a:r>
              <a:rPr lang="de-DE" sz="1400" strike="sngStrike" dirty="0"/>
              <a:t> </a:t>
            </a:r>
            <a:r>
              <a:rPr lang="de-DE" sz="1400" dirty="0">
                <a:solidFill>
                  <a:srgbClr val="FF0000"/>
                </a:solidFill>
              </a:rPr>
              <a:t>(</a:t>
            </a:r>
            <a:r>
              <a:rPr lang="de-DE" sz="1400" dirty="0" err="1">
                <a:solidFill>
                  <a:srgbClr val="FF0000"/>
                </a:solidFill>
              </a:rPr>
              <a:t>did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it</a:t>
            </a:r>
            <a:r>
              <a:rPr lang="de-DE" sz="1400" dirty="0">
                <a:solidFill>
                  <a:srgbClr val="FF0000"/>
                </a:solidFill>
              </a:rPr>
              <a:t> but </a:t>
            </a:r>
            <a:r>
              <a:rPr lang="de-DE" sz="1400" dirty="0" err="1">
                <a:solidFill>
                  <a:srgbClr val="FF0000"/>
                </a:solidFill>
              </a:rPr>
              <a:t>limits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set</a:t>
            </a:r>
            <a:r>
              <a:rPr lang="de-DE" sz="1400" dirty="0">
                <a:solidFill>
                  <a:srgbClr val="FF0000"/>
                </a:solidFill>
              </a:rPr>
              <a:t> so </a:t>
            </a:r>
            <a:r>
              <a:rPr lang="de-DE" sz="1400" dirty="0" err="1">
                <a:solidFill>
                  <a:srgbClr val="FF0000"/>
                </a:solidFill>
              </a:rPr>
              <a:t>far</a:t>
            </a:r>
            <a:r>
              <a:rPr lang="de-DE" sz="1400" dirty="0">
                <a:solidFill>
                  <a:srgbClr val="FF0000"/>
                </a:solidFill>
              </a:rPr>
              <a:t> so </a:t>
            </a:r>
            <a:r>
              <a:rPr lang="de-DE" sz="1400" dirty="0" err="1">
                <a:solidFill>
                  <a:srgbClr val="FF0000"/>
                </a:solidFill>
              </a:rPr>
              <a:t>every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board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looks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green</a:t>
            </a:r>
            <a:r>
              <a:rPr lang="de-DE" sz="1400" dirty="0">
                <a:solidFill>
                  <a:srgbClr val="FF0000"/>
                </a:solidFill>
              </a:rPr>
              <a:t> still)</a:t>
            </a:r>
            <a:endParaRPr lang="de-DE" sz="1400" strike="sngStrike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424383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07EB-96BE-4214-997D-D5198E71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– Day 4-5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4F9764-2921-4303-88FE-6D4F2FA35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245" y="975850"/>
            <a:ext cx="7828156" cy="3905010"/>
          </a:xfrm>
        </p:spPr>
      </p:pic>
    </p:spTree>
    <p:extLst>
      <p:ext uri="{BB962C8B-B14F-4D97-AF65-F5344CB8AC3E}">
        <p14:creationId xmlns:p14="http://schemas.microsoft.com/office/powerpoint/2010/main" val="559332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07EB-96BE-4214-997D-D5198E71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– Day 4-5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3C33B2E-324D-44CC-8042-C92549344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086" y="984846"/>
            <a:ext cx="7832617" cy="3895344"/>
          </a:xfrm>
        </p:spPr>
      </p:pic>
    </p:spTree>
    <p:extLst>
      <p:ext uri="{BB962C8B-B14F-4D97-AF65-F5344CB8AC3E}">
        <p14:creationId xmlns:p14="http://schemas.microsoft.com/office/powerpoint/2010/main" val="266614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start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with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plsci</a:t>
            </a:r>
            <a:r>
              <a:rPr lang="de-DE" sz="1400" strike="sngStrike" dirty="0"/>
              <a:t> </a:t>
            </a:r>
            <a:r>
              <a:rPr lang="de-DE" sz="1400" dirty="0"/>
              <a:t>/ </a:t>
            </a:r>
            <a:r>
              <a:rPr lang="de-DE" sz="1400" dirty="0" err="1"/>
              <a:t>music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/>
              <a:t>6 </a:t>
            </a:r>
            <a:r>
              <a:rPr lang="de-DE" sz="1400" strike="sngStrike" dirty="0" err="1"/>
              <a:t>tabs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for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plsci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each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tab:on</a:t>
            </a:r>
            <a:r>
              <a:rPr lang="de-DE" sz="1400" strike="sngStrike" dirty="0"/>
              <a:t>/off </a:t>
            </a:r>
            <a:r>
              <a:rPr lang="de-DE" sz="1400" strike="sngStrike" dirty="0" err="1"/>
              <a:t>led</a:t>
            </a:r>
            <a:r>
              <a:rPr lang="de-DE" sz="1400" strike="sngStrike" dirty="0"/>
              <a:t>, HV linear </a:t>
            </a:r>
            <a:r>
              <a:rPr lang="de-DE" sz="1400" strike="sngStrike" dirty="0" err="1"/>
              <a:t>meter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count</a:t>
            </a:r>
            <a:r>
              <a:rPr lang="de-DE" sz="1400" strike="sngStrike" dirty="0"/>
              <a:t> rate </a:t>
            </a:r>
            <a:r>
              <a:rPr lang="de-DE" sz="1400" strike="sngStrike" dirty="0" err="1"/>
              <a:t>meter</a:t>
            </a:r>
            <a:r>
              <a:rPr lang="de-DE" sz="1400" strike="sngStrike" dirty="0"/>
              <a:t> (log </a:t>
            </a:r>
            <a:r>
              <a:rPr lang="de-DE" sz="1400" strike="sngStrike" dirty="0" err="1"/>
              <a:t>scale</a:t>
            </a:r>
            <a:r>
              <a:rPr lang="de-DE" sz="1400" strike="sngStrike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for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plsci</a:t>
            </a:r>
            <a:r>
              <a:rPr lang="de-DE" sz="1400" strike="sngStrike" dirty="0"/>
              <a:t> 4 </a:t>
            </a:r>
            <a:r>
              <a:rPr lang="de-DE" sz="1400" strike="sngStrike" dirty="0" err="1"/>
              <a:t>of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them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has</a:t>
            </a:r>
            <a:r>
              <a:rPr lang="de-DE" sz="1400" strike="sngStrike" dirty="0"/>
              <a:t> 6 </a:t>
            </a:r>
            <a:r>
              <a:rPr lang="de-DE" sz="1400" strike="sngStrike" dirty="0" err="1"/>
              <a:t>board</a:t>
            </a:r>
            <a:r>
              <a:rPr lang="de-DE" sz="1400" strike="sngStrike" dirty="0"/>
              <a:t>, 2 </a:t>
            </a:r>
            <a:r>
              <a:rPr lang="de-DE" sz="1400" strike="sngStrike" dirty="0" err="1"/>
              <a:t>of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them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has</a:t>
            </a:r>
            <a:r>
              <a:rPr lang="de-DE" sz="1400" strike="sngStrike" dirty="0"/>
              <a:t> 8 </a:t>
            </a:r>
            <a:r>
              <a:rPr lang="de-DE" sz="1400" strike="sngStrike" dirty="0" err="1"/>
              <a:t>board</a:t>
            </a:r>
            <a:endParaRPr lang="de-DE" sz="1400" strike="sngStrike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2 </a:t>
            </a:r>
            <a:r>
              <a:rPr lang="de-DE" sz="1400" dirty="0" err="1"/>
              <a:t>tabs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music</a:t>
            </a:r>
            <a:r>
              <a:rPr lang="de-DE" sz="1400" dirty="0"/>
              <a:t>, </a:t>
            </a:r>
            <a:r>
              <a:rPr lang="de-DE" sz="1400" dirty="0" err="1"/>
              <a:t>each</a:t>
            </a:r>
            <a:r>
              <a:rPr lang="de-DE" sz="1400" dirty="0"/>
              <a:t> </a:t>
            </a:r>
            <a:r>
              <a:rPr lang="de-DE" sz="1400" dirty="0" err="1"/>
              <a:t>tab</a:t>
            </a:r>
            <a:r>
              <a:rPr lang="de-DE" sz="1400" dirty="0"/>
              <a:t>: </a:t>
            </a:r>
            <a:r>
              <a:rPr lang="de-DE" sz="1400" dirty="0" err="1"/>
              <a:t>field</a:t>
            </a:r>
            <a:r>
              <a:rPr lang="de-DE" sz="1400" dirty="0"/>
              <a:t> </a:t>
            </a:r>
            <a:r>
              <a:rPr lang="de-DE" sz="1400" dirty="0" err="1"/>
              <a:t>cage</a:t>
            </a:r>
            <a:r>
              <a:rPr lang="de-DE" sz="1400" dirty="0"/>
              <a:t> </a:t>
            </a:r>
            <a:r>
              <a:rPr lang="de-DE" sz="1400" dirty="0" err="1"/>
              <a:t>those</a:t>
            </a:r>
            <a:r>
              <a:rPr lang="de-DE" sz="1400" dirty="0"/>
              <a:t> </a:t>
            </a:r>
            <a:r>
              <a:rPr lang="de-DE" sz="1400" dirty="0" err="1"/>
              <a:t>field</a:t>
            </a:r>
            <a:r>
              <a:rPr lang="de-DE" sz="1400" dirty="0"/>
              <a:t> </a:t>
            </a:r>
            <a:r>
              <a:rPr lang="de-DE" sz="1400" dirty="0" err="1"/>
              <a:t>cage</a:t>
            </a:r>
            <a:r>
              <a:rPr lang="de-DE" sz="1400" dirty="0"/>
              <a:t> </a:t>
            </a:r>
            <a:r>
              <a:rPr lang="de-DE" sz="1400" dirty="0" err="1"/>
              <a:t>needs</a:t>
            </a:r>
            <a:r>
              <a:rPr lang="de-DE" sz="1400" dirty="0"/>
              <a:t> HV_SET, HV_RBV, HV_STAT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music</a:t>
            </a:r>
            <a:r>
              <a:rPr lang="de-DE" sz="1400" dirty="0"/>
              <a:t> also </a:t>
            </a:r>
            <a:r>
              <a:rPr lang="de-DE" sz="1400" dirty="0" err="1"/>
              <a:t>there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gas ?</a:t>
            </a:r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Use log </a:t>
            </a:r>
            <a:r>
              <a:rPr lang="de-DE" sz="1400" dirty="0" err="1"/>
              <a:t>scale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Meter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HV_RBV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should</a:t>
            </a:r>
            <a:r>
              <a:rPr lang="de-DE" sz="1400" dirty="0"/>
              <a:t> gas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monitored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music</a:t>
            </a:r>
            <a:r>
              <a:rPr lang="de-DE" sz="14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PLSCI and SCIFI screen </a:t>
            </a:r>
            <a:r>
              <a:rPr lang="de-DE" sz="1400" dirty="0" err="1"/>
              <a:t>resolutions</a:t>
            </a:r>
            <a:r>
              <a:rPr lang="de-DE" sz="1400" dirty="0"/>
              <a:t> </a:t>
            </a:r>
            <a:r>
              <a:rPr lang="de-DE" sz="1400" dirty="0" err="1"/>
              <a:t>are</a:t>
            </a:r>
            <a:r>
              <a:rPr lang="de-DE" sz="1400" dirty="0"/>
              <a:t> different,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this</a:t>
            </a:r>
            <a:r>
              <a:rPr lang="de-DE" sz="1400" dirty="0"/>
              <a:t> a </a:t>
            </a:r>
            <a:r>
              <a:rPr lang="de-DE" sz="1400" dirty="0" err="1"/>
              <a:t>problem</a:t>
            </a:r>
            <a:r>
              <a:rPr lang="de-DE" sz="1400" dirty="0"/>
              <a:t> ?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792829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26.08.17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start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with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plsci</a:t>
            </a:r>
            <a:r>
              <a:rPr lang="de-DE" sz="1400" strike="sngStrike" dirty="0"/>
              <a:t> </a:t>
            </a:r>
            <a:r>
              <a:rPr lang="de-DE" sz="1400" dirty="0"/>
              <a:t>/ </a:t>
            </a:r>
            <a:r>
              <a:rPr lang="de-DE" sz="1400" dirty="0" err="1"/>
              <a:t>music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/>
              <a:t>6 </a:t>
            </a:r>
            <a:r>
              <a:rPr lang="de-DE" sz="1400" strike="sngStrike" dirty="0" err="1"/>
              <a:t>tabs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for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plsci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each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tab:on</a:t>
            </a:r>
            <a:r>
              <a:rPr lang="de-DE" sz="1400" strike="sngStrike" dirty="0"/>
              <a:t>/off </a:t>
            </a:r>
            <a:r>
              <a:rPr lang="de-DE" sz="1400" strike="sngStrike" dirty="0" err="1"/>
              <a:t>led</a:t>
            </a:r>
            <a:r>
              <a:rPr lang="de-DE" sz="1400" strike="sngStrike" dirty="0"/>
              <a:t>, HV linear </a:t>
            </a:r>
            <a:r>
              <a:rPr lang="de-DE" sz="1400" strike="sngStrike" dirty="0" err="1"/>
              <a:t>meter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count</a:t>
            </a:r>
            <a:r>
              <a:rPr lang="de-DE" sz="1400" strike="sngStrike" dirty="0"/>
              <a:t> rate </a:t>
            </a:r>
            <a:r>
              <a:rPr lang="de-DE" sz="1400" strike="sngStrike" dirty="0" err="1"/>
              <a:t>meter</a:t>
            </a:r>
            <a:r>
              <a:rPr lang="de-DE" sz="1400" strike="sngStrike" dirty="0"/>
              <a:t> (log </a:t>
            </a:r>
            <a:r>
              <a:rPr lang="de-DE" sz="1400" strike="sngStrike" dirty="0" err="1"/>
              <a:t>scale</a:t>
            </a:r>
            <a:r>
              <a:rPr lang="de-DE" sz="1400" strike="sngStrike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for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plsci</a:t>
            </a:r>
            <a:r>
              <a:rPr lang="de-DE" sz="1400" strike="sngStrike" dirty="0"/>
              <a:t> 4 </a:t>
            </a:r>
            <a:r>
              <a:rPr lang="de-DE" sz="1400" strike="sngStrike" dirty="0" err="1"/>
              <a:t>of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them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has</a:t>
            </a:r>
            <a:r>
              <a:rPr lang="de-DE" sz="1400" strike="sngStrike" dirty="0"/>
              <a:t> 6 </a:t>
            </a:r>
            <a:r>
              <a:rPr lang="de-DE" sz="1400" strike="sngStrike" dirty="0" err="1"/>
              <a:t>board</a:t>
            </a:r>
            <a:r>
              <a:rPr lang="de-DE" sz="1400" strike="sngStrike" dirty="0"/>
              <a:t>, 2 </a:t>
            </a:r>
            <a:r>
              <a:rPr lang="de-DE" sz="1400" strike="sngStrike" dirty="0" err="1"/>
              <a:t>of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them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has</a:t>
            </a:r>
            <a:r>
              <a:rPr lang="de-DE" sz="1400" strike="sngStrike" dirty="0"/>
              <a:t> 8 </a:t>
            </a:r>
            <a:r>
              <a:rPr lang="de-DE" sz="1400" strike="sngStrike" dirty="0" err="1"/>
              <a:t>board</a:t>
            </a:r>
            <a:endParaRPr lang="de-DE" sz="1400" strike="sngStrike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2 </a:t>
            </a:r>
            <a:r>
              <a:rPr lang="de-DE" sz="1400" dirty="0" err="1"/>
              <a:t>tabs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music</a:t>
            </a:r>
            <a:r>
              <a:rPr lang="de-DE" sz="1400" dirty="0"/>
              <a:t>, </a:t>
            </a:r>
            <a:r>
              <a:rPr lang="de-DE" sz="1400" dirty="0" err="1"/>
              <a:t>each</a:t>
            </a:r>
            <a:r>
              <a:rPr lang="de-DE" sz="1400" dirty="0"/>
              <a:t> </a:t>
            </a:r>
            <a:r>
              <a:rPr lang="de-DE" sz="1400" dirty="0" err="1"/>
              <a:t>tab</a:t>
            </a:r>
            <a:r>
              <a:rPr lang="de-DE" sz="1400" dirty="0"/>
              <a:t>: </a:t>
            </a:r>
            <a:r>
              <a:rPr lang="de-DE" sz="1400" dirty="0" err="1"/>
              <a:t>field</a:t>
            </a:r>
            <a:r>
              <a:rPr lang="de-DE" sz="1400" dirty="0"/>
              <a:t> </a:t>
            </a:r>
            <a:r>
              <a:rPr lang="de-DE" sz="1400" dirty="0" err="1"/>
              <a:t>cage</a:t>
            </a:r>
            <a:r>
              <a:rPr lang="de-DE" sz="1400" dirty="0"/>
              <a:t> </a:t>
            </a:r>
            <a:r>
              <a:rPr lang="de-DE" sz="1400" dirty="0" err="1"/>
              <a:t>those</a:t>
            </a:r>
            <a:r>
              <a:rPr lang="de-DE" sz="1400" dirty="0"/>
              <a:t> </a:t>
            </a:r>
            <a:r>
              <a:rPr lang="de-DE" sz="1400" dirty="0" err="1"/>
              <a:t>field</a:t>
            </a:r>
            <a:r>
              <a:rPr lang="de-DE" sz="1400" dirty="0"/>
              <a:t> </a:t>
            </a:r>
            <a:r>
              <a:rPr lang="de-DE" sz="1400" dirty="0" err="1"/>
              <a:t>cage</a:t>
            </a:r>
            <a:r>
              <a:rPr lang="de-DE" sz="1400" dirty="0"/>
              <a:t> </a:t>
            </a:r>
            <a:r>
              <a:rPr lang="de-DE" sz="1400" dirty="0" err="1"/>
              <a:t>needs</a:t>
            </a:r>
            <a:r>
              <a:rPr lang="de-DE" sz="1400" dirty="0"/>
              <a:t> HV_Ì_SET, HV_I_RBV, HV_STATE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music</a:t>
            </a:r>
            <a:r>
              <a:rPr lang="de-DE" sz="1400" dirty="0"/>
              <a:t> also </a:t>
            </a:r>
            <a:r>
              <a:rPr lang="de-DE" sz="1400" dirty="0" err="1"/>
              <a:t>there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gas ?</a:t>
            </a:r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/>
              <a:t>Use log </a:t>
            </a:r>
            <a:r>
              <a:rPr lang="de-DE" sz="1400" strike="sngStrike" dirty="0" err="1"/>
              <a:t>scale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for</a:t>
            </a:r>
            <a:r>
              <a:rPr lang="de-DE" sz="1400" strike="sngStrike" dirty="0"/>
              <a:t> Meter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should</a:t>
            </a:r>
            <a:r>
              <a:rPr lang="de-DE" sz="1400" dirty="0"/>
              <a:t> gas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monitored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music</a:t>
            </a:r>
            <a:r>
              <a:rPr lang="de-DE" sz="14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>
                <a:solidFill>
                  <a:srgbClr val="FF0000"/>
                </a:solidFill>
              </a:rPr>
              <a:t>PLSCI and SCIFI screen </a:t>
            </a:r>
            <a:r>
              <a:rPr lang="de-DE" sz="1400" strike="sngStrike" dirty="0" err="1">
                <a:solidFill>
                  <a:srgbClr val="FF0000"/>
                </a:solidFill>
              </a:rPr>
              <a:t>resolutions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are</a:t>
            </a:r>
            <a:r>
              <a:rPr lang="de-DE" sz="1400" strike="sngStrike" dirty="0">
                <a:solidFill>
                  <a:srgbClr val="FF0000"/>
                </a:solidFill>
              </a:rPr>
              <a:t> different, </a:t>
            </a:r>
            <a:r>
              <a:rPr lang="de-DE" sz="1400" strike="sngStrike" dirty="0" err="1">
                <a:solidFill>
                  <a:srgbClr val="FF0000"/>
                </a:solidFill>
              </a:rPr>
              <a:t>is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this</a:t>
            </a:r>
            <a:r>
              <a:rPr lang="de-DE" sz="1400" strike="sngStrike" dirty="0">
                <a:solidFill>
                  <a:srgbClr val="FF0000"/>
                </a:solidFill>
              </a:rPr>
              <a:t> a </a:t>
            </a:r>
            <a:r>
              <a:rPr lang="de-DE" sz="1400" strike="sngStrike" dirty="0" err="1">
                <a:solidFill>
                  <a:srgbClr val="FF0000"/>
                </a:solidFill>
              </a:rPr>
              <a:t>problem</a:t>
            </a:r>
            <a:r>
              <a:rPr lang="de-DE" sz="1400" strike="sngStrike" dirty="0">
                <a:solidFill>
                  <a:srgbClr val="FF0000"/>
                </a:solidFill>
              </a:rPr>
              <a:t> ?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489034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07EB-96BE-4214-997D-D5198E71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– Day 6-7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1988E8-EEB7-44A7-A2C7-C0B12D276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740" y="976260"/>
            <a:ext cx="7524520" cy="3785174"/>
          </a:xfrm>
        </p:spPr>
      </p:pic>
    </p:spTree>
    <p:extLst>
      <p:ext uri="{BB962C8B-B14F-4D97-AF65-F5344CB8AC3E}">
        <p14:creationId xmlns:p14="http://schemas.microsoft.com/office/powerpoint/2010/main" val="3300316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26.08.18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/>
              <a:t>2 </a:t>
            </a:r>
            <a:r>
              <a:rPr lang="de-DE" sz="1400" strike="sngStrike" dirty="0" err="1"/>
              <a:t>tabs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for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music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each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tab</a:t>
            </a:r>
            <a:r>
              <a:rPr lang="de-DE" sz="1400" strike="sngStrike" dirty="0"/>
              <a:t>: </a:t>
            </a:r>
            <a:r>
              <a:rPr lang="de-DE" sz="1400" strike="sngStrike" dirty="0" err="1"/>
              <a:t>field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cage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those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field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cage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needs</a:t>
            </a:r>
            <a:r>
              <a:rPr lang="de-DE" sz="1400" strike="sngStrike" dirty="0"/>
              <a:t> HV_Ì_SET, HV_I_RBV, HV_STATE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music</a:t>
            </a:r>
            <a:r>
              <a:rPr lang="de-DE" sz="1400" strike="sngStrike" dirty="0"/>
              <a:t> FC </a:t>
            </a:r>
            <a:r>
              <a:rPr lang="de-DE" sz="1400" strike="sngStrike" dirty="0" err="1"/>
              <a:t>belov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should</a:t>
            </a:r>
            <a:r>
              <a:rPr lang="de-DE" sz="1400" strike="sngStrike" dirty="0"/>
              <a:t> on/off </a:t>
            </a:r>
            <a:r>
              <a:rPr lang="de-DE" sz="1400" strike="sngStrike" dirty="0" err="1"/>
              <a:t>next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to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it</a:t>
            </a:r>
            <a:r>
              <a:rPr lang="de-DE" sz="1400" strike="sngStrike" dirty="0"/>
              <a:t> Volt and </a:t>
            </a:r>
            <a:r>
              <a:rPr lang="de-DE" sz="1400" strike="sngStrike" dirty="0" err="1"/>
              <a:t>current</a:t>
            </a:r>
            <a:r>
              <a:rPr lang="de-DE" sz="1400" strike="sngStrike" dirty="0"/>
              <a:t> 2 linear </a:t>
            </a:r>
            <a:r>
              <a:rPr lang="de-DE" sz="1400" strike="sngStrike" dirty="0" err="1"/>
              <a:t>meters</a:t>
            </a:r>
            <a:r>
              <a:rPr lang="de-DE" sz="1400" strike="sngStrike" dirty="0"/>
              <a:t>, </a:t>
            </a:r>
            <a:r>
              <a:rPr lang="de-DE" sz="1400" strike="sngStrike" dirty="0" err="1"/>
              <a:t>belove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them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state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next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to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it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byte</a:t>
            </a:r>
            <a:r>
              <a:rPr lang="de-DE" sz="1400" strike="sngStrike" dirty="0"/>
              <a:t> monitor and </a:t>
            </a:r>
            <a:r>
              <a:rPr lang="de-DE" sz="1400" strike="sngStrike" dirty="0" err="1"/>
              <a:t>belove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them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it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should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show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the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current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sit</a:t>
            </a:r>
            <a:r>
              <a:rPr lang="de-DE" sz="1400" strike="sngStrike" dirty="0"/>
              <a:t> and </a:t>
            </a:r>
            <a:r>
              <a:rPr lang="de-DE" sz="1400" strike="sngStrike" dirty="0" err="1"/>
              <a:t>representativ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situation</a:t>
            </a:r>
            <a:endParaRPr lang="de-DE" sz="1400" strike="sngStrike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think</a:t>
            </a:r>
            <a:r>
              <a:rPr lang="de-DE" sz="1400" dirty="0"/>
              <a:t> </a:t>
            </a:r>
            <a:r>
              <a:rPr lang="de-DE" sz="1400" dirty="0" err="1"/>
              <a:t>click</a:t>
            </a:r>
            <a:r>
              <a:rPr lang="de-DE" sz="1400" dirty="0"/>
              <a:t> a </a:t>
            </a:r>
            <a:r>
              <a:rPr lang="de-DE" sz="1400" dirty="0" err="1"/>
              <a:t>button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open a </a:t>
            </a:r>
            <a:r>
              <a:rPr lang="de-DE" sz="1400" dirty="0" err="1"/>
              <a:t>new</a:t>
            </a:r>
            <a:r>
              <a:rPr lang="de-DE" sz="1400" dirty="0"/>
              <a:t> </a:t>
            </a:r>
            <a:r>
              <a:rPr lang="de-DE" sz="1400" dirty="0" err="1"/>
              <a:t>tab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naming</a:t>
            </a:r>
            <a:r>
              <a:rPr lang="de-DE" sz="1400" dirty="0"/>
              <a:t> </a:t>
            </a:r>
            <a:r>
              <a:rPr lang="de-DE" sz="1400" dirty="0" err="1"/>
              <a:t>should</a:t>
            </a:r>
            <a:r>
              <a:rPr lang="de-DE" sz="1400" dirty="0"/>
              <a:t> </a:t>
            </a:r>
            <a:r>
              <a:rPr lang="de-DE" sz="1400" dirty="0" err="1"/>
              <a:t>change</a:t>
            </a:r>
            <a:r>
              <a:rPr lang="de-DE" sz="1400" dirty="0"/>
              <a:t> </a:t>
            </a:r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>
                <a:solidFill>
                  <a:srgbClr val="FF0000"/>
                </a:solidFill>
              </a:rPr>
              <a:t>PLSCI and SCIFI screen </a:t>
            </a:r>
            <a:r>
              <a:rPr lang="de-DE" sz="1400" strike="sngStrike" dirty="0" err="1">
                <a:solidFill>
                  <a:srgbClr val="FF0000"/>
                </a:solidFill>
              </a:rPr>
              <a:t>resolutions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are</a:t>
            </a:r>
            <a:r>
              <a:rPr lang="de-DE" sz="1400" strike="sngStrike" dirty="0">
                <a:solidFill>
                  <a:srgbClr val="FF0000"/>
                </a:solidFill>
              </a:rPr>
              <a:t> different, </a:t>
            </a:r>
            <a:r>
              <a:rPr lang="de-DE" sz="1400" strike="sngStrike" dirty="0" err="1">
                <a:solidFill>
                  <a:srgbClr val="FF0000"/>
                </a:solidFill>
              </a:rPr>
              <a:t>is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this</a:t>
            </a:r>
            <a:r>
              <a:rPr lang="de-DE" sz="1400" strike="sngStrike" dirty="0">
                <a:solidFill>
                  <a:srgbClr val="FF0000"/>
                </a:solidFill>
              </a:rPr>
              <a:t> a </a:t>
            </a:r>
            <a:r>
              <a:rPr lang="de-DE" sz="1400" strike="sngStrike" dirty="0" err="1">
                <a:solidFill>
                  <a:srgbClr val="FF0000"/>
                </a:solidFill>
              </a:rPr>
              <a:t>problem</a:t>
            </a:r>
            <a:r>
              <a:rPr lang="de-DE" sz="1400" strike="sngStrike" dirty="0">
                <a:solidFill>
                  <a:srgbClr val="FF0000"/>
                </a:solidFill>
              </a:rPr>
              <a:t> ? </a:t>
            </a:r>
            <a:r>
              <a:rPr lang="de-DE" sz="1400" dirty="0">
                <a:solidFill>
                  <a:srgbClr val="FF0000"/>
                </a:solidFill>
              </a:rPr>
              <a:t>(</a:t>
            </a:r>
            <a:r>
              <a:rPr lang="de-DE" sz="1400" dirty="0" err="1">
                <a:solidFill>
                  <a:srgbClr val="FF0000"/>
                </a:solidFill>
              </a:rPr>
              <a:t>new</a:t>
            </a:r>
            <a:r>
              <a:rPr lang="de-DE" sz="1400" dirty="0">
                <a:solidFill>
                  <a:srgbClr val="FF0000"/>
                </a:solidFill>
              </a:rPr>
              <a:t> 1920x1440)</a:t>
            </a:r>
            <a:endParaRPr lang="de-DE" sz="1400" strike="sngStrike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769319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26.08.19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think</a:t>
            </a:r>
            <a:r>
              <a:rPr lang="de-DE" sz="1400" dirty="0"/>
              <a:t> </a:t>
            </a:r>
            <a:r>
              <a:rPr lang="de-DE" sz="1400" dirty="0" err="1"/>
              <a:t>click</a:t>
            </a:r>
            <a:r>
              <a:rPr lang="de-DE" sz="1400" dirty="0"/>
              <a:t> a </a:t>
            </a:r>
            <a:r>
              <a:rPr lang="de-DE" sz="1400" dirty="0" err="1"/>
              <a:t>button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open a </a:t>
            </a:r>
            <a:r>
              <a:rPr lang="de-DE" sz="1400" dirty="0" err="1"/>
              <a:t>new</a:t>
            </a:r>
            <a:r>
              <a:rPr lang="de-DE" sz="1400" dirty="0"/>
              <a:t> </a:t>
            </a:r>
            <a:r>
              <a:rPr lang="de-DE" sz="1400" dirty="0" err="1"/>
              <a:t>tab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naming</a:t>
            </a:r>
            <a:r>
              <a:rPr lang="de-DE" sz="1400" dirty="0"/>
              <a:t> </a:t>
            </a:r>
            <a:r>
              <a:rPr lang="de-DE" sz="1400" dirty="0" err="1"/>
              <a:t>should</a:t>
            </a:r>
            <a:r>
              <a:rPr lang="de-DE" sz="1400" dirty="0"/>
              <a:t> </a:t>
            </a:r>
            <a:r>
              <a:rPr lang="de-DE" sz="1400" dirty="0" err="1"/>
              <a:t>change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button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for</a:t>
            </a:r>
            <a:r>
              <a:rPr lang="de-DE" sz="1400" strike="sngStrike" dirty="0"/>
              <a:t> on/off (MUSIC)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show</a:t>
            </a:r>
            <a:r>
              <a:rPr lang="de-DE" sz="1400" strike="sngStrike" dirty="0"/>
              <a:t> V </a:t>
            </a:r>
            <a:r>
              <a:rPr lang="de-DE" sz="1400" strike="sngStrike" dirty="0" err="1"/>
              <a:t>plot</a:t>
            </a:r>
            <a:r>
              <a:rPr lang="de-DE" sz="1400" strike="sngStrike" dirty="0"/>
              <a:t> (MUSIC)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look</a:t>
            </a:r>
            <a:r>
              <a:rPr lang="de-DE" sz="1400" dirty="0"/>
              <a:t> </a:t>
            </a:r>
            <a:r>
              <a:rPr lang="de-DE" sz="1400" dirty="0" err="1"/>
              <a:t>text</a:t>
            </a:r>
            <a:r>
              <a:rPr lang="de-DE" sz="1400" dirty="0"/>
              <a:t> </a:t>
            </a:r>
            <a:r>
              <a:rPr lang="de-DE" sz="1400" dirty="0" err="1"/>
              <a:t>rule</a:t>
            </a:r>
            <a:r>
              <a:rPr lang="de-DE" sz="1400" dirty="0"/>
              <a:t> (MUSIC)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does</a:t>
            </a:r>
            <a:r>
              <a:rPr lang="de-DE" sz="1400" dirty="0"/>
              <a:t> not </a:t>
            </a:r>
            <a:r>
              <a:rPr lang="de-DE" sz="1400" dirty="0" err="1"/>
              <a:t>work</a:t>
            </a:r>
            <a:r>
              <a:rPr lang="de-DE" sz="1400" dirty="0"/>
              <a:t> </a:t>
            </a:r>
            <a:r>
              <a:rPr lang="de-DE" sz="1400" dirty="0" err="1"/>
              <a:t>now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condition</a:t>
            </a:r>
            <a:r>
              <a:rPr lang="de-DE" sz="1400" dirty="0"/>
              <a:t> </a:t>
            </a:r>
            <a:r>
              <a:rPr lang="de-DE" sz="1400" dirty="0" err="1"/>
              <a:t>text</a:t>
            </a:r>
            <a:r>
              <a:rPr lang="de-DE" sz="1400" dirty="0"/>
              <a:t> </a:t>
            </a:r>
            <a:r>
              <a:rPr lang="de-DE" sz="1400" dirty="0" err="1"/>
              <a:t>entry</a:t>
            </a:r>
            <a:r>
              <a:rPr lang="de-DE" sz="1400" dirty="0"/>
              <a:t> and </a:t>
            </a:r>
            <a:r>
              <a:rPr lang="de-DE" sz="1400" dirty="0" err="1"/>
              <a:t>action</a:t>
            </a:r>
            <a:r>
              <a:rPr lang="de-DE" sz="1400" dirty="0"/>
              <a:t> </a:t>
            </a:r>
            <a:r>
              <a:rPr lang="de-DE" sz="1400" dirty="0" err="1"/>
              <a:t>button</a:t>
            </a: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804970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07EB-96BE-4214-997D-D5198E71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– Day 8-9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1F2CAF0-052C-4563-BFED-241ACE2CB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567" y="931321"/>
            <a:ext cx="8253082" cy="3957395"/>
          </a:xfrm>
        </p:spPr>
      </p:pic>
    </p:spTree>
    <p:extLst>
      <p:ext uri="{BB962C8B-B14F-4D97-AF65-F5344CB8AC3E}">
        <p14:creationId xmlns:p14="http://schemas.microsoft.com/office/powerpoint/2010/main" val="3361139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Report 26.08.20</a:t>
            </a:r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think</a:t>
            </a:r>
            <a:r>
              <a:rPr lang="de-DE" sz="1400" dirty="0"/>
              <a:t> </a:t>
            </a:r>
            <a:r>
              <a:rPr lang="de-DE" sz="1400" dirty="0" err="1"/>
              <a:t>click</a:t>
            </a:r>
            <a:r>
              <a:rPr lang="de-DE" sz="1400" dirty="0"/>
              <a:t> a </a:t>
            </a:r>
            <a:r>
              <a:rPr lang="de-DE" sz="1400" dirty="0" err="1"/>
              <a:t>button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open a </a:t>
            </a:r>
            <a:r>
              <a:rPr lang="de-DE" sz="1400" dirty="0" err="1"/>
              <a:t>new</a:t>
            </a:r>
            <a:r>
              <a:rPr lang="de-DE" sz="1400" dirty="0"/>
              <a:t> </a:t>
            </a:r>
            <a:r>
              <a:rPr lang="de-DE" sz="1400" dirty="0" err="1"/>
              <a:t>tab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naming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should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change</a:t>
            </a:r>
            <a:endParaRPr lang="de-DE" sz="1400" strike="sngStrike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button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for</a:t>
            </a:r>
            <a:r>
              <a:rPr lang="de-DE" sz="1400" strike="sngStrike" dirty="0"/>
              <a:t> on/off (MUSIC)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show</a:t>
            </a:r>
            <a:r>
              <a:rPr lang="de-DE" sz="1400" strike="sngStrike" dirty="0"/>
              <a:t> V </a:t>
            </a:r>
            <a:r>
              <a:rPr lang="de-DE" sz="1400" strike="sngStrike" dirty="0" err="1"/>
              <a:t>plot</a:t>
            </a:r>
            <a:r>
              <a:rPr lang="de-DE" sz="1400" strike="sngStrike" dirty="0"/>
              <a:t> (MUSIC)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/>
              <a:t>look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text</a:t>
            </a:r>
            <a:r>
              <a:rPr lang="de-DE" sz="1400" strike="sngStrike" dirty="0"/>
              <a:t> </a:t>
            </a:r>
            <a:r>
              <a:rPr lang="de-DE" sz="1400" strike="sngStrike" dirty="0" err="1"/>
              <a:t>rule</a:t>
            </a:r>
            <a:r>
              <a:rPr lang="de-DE" sz="1400" strike="sngStrike" dirty="0"/>
              <a:t> (MUSIC)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rgbClr val="FF0000"/>
                </a:solidFill>
              </a:rPr>
              <a:t>make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condition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text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entry</a:t>
            </a:r>
            <a:r>
              <a:rPr lang="de-DE" sz="1400" strike="sngStrike" dirty="0">
                <a:solidFill>
                  <a:srgbClr val="FF0000"/>
                </a:solidFill>
              </a:rPr>
              <a:t> and </a:t>
            </a:r>
            <a:r>
              <a:rPr lang="de-DE" sz="1400" strike="sngStrike" dirty="0" err="1">
                <a:solidFill>
                  <a:srgbClr val="FF0000"/>
                </a:solidFill>
              </a:rPr>
              <a:t>action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button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chemeClr val="tx1"/>
                </a:solidFill>
              </a:rPr>
              <a:t>there</a:t>
            </a:r>
            <a:r>
              <a:rPr lang="de-DE" sz="1400" dirty="0">
                <a:solidFill>
                  <a:schemeClr val="tx1"/>
                </a:solidFill>
              </a:rPr>
              <a:t> will </a:t>
            </a:r>
            <a:r>
              <a:rPr lang="de-DE" sz="1400" dirty="0" err="1">
                <a:solidFill>
                  <a:schemeClr val="tx1"/>
                </a:solidFill>
              </a:rPr>
              <a:t>come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one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more</a:t>
            </a:r>
            <a:r>
              <a:rPr lang="de-DE" sz="1400" dirty="0">
                <a:solidFill>
                  <a:schemeClr val="tx1"/>
                </a:solidFill>
              </a:rPr>
              <a:t> HV </a:t>
            </a:r>
            <a:r>
              <a:rPr lang="de-DE" sz="1400" dirty="0" err="1">
                <a:solidFill>
                  <a:schemeClr val="tx1"/>
                </a:solidFill>
              </a:rPr>
              <a:t>for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pos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values</a:t>
            </a:r>
            <a:endParaRPr lang="de-DE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chemeClr val="tx1"/>
                </a:solidFill>
              </a:rPr>
              <a:t>make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settings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file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that</a:t>
            </a:r>
            <a:r>
              <a:rPr lang="de-DE" sz="1400" dirty="0">
                <a:solidFill>
                  <a:schemeClr val="tx1"/>
                </a:solidFill>
              </a:rPr>
              <a:t> will </a:t>
            </a:r>
            <a:r>
              <a:rPr lang="de-DE" sz="1400" dirty="0" err="1">
                <a:solidFill>
                  <a:schemeClr val="tx1"/>
                </a:solidFill>
              </a:rPr>
              <a:t>be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automatized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later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when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we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have</a:t>
            </a:r>
            <a:r>
              <a:rPr lang="de-DE" sz="1400" dirty="0">
                <a:solidFill>
                  <a:schemeClr val="tx1"/>
                </a:solidFill>
              </a:rPr>
              <a:t> different </a:t>
            </a:r>
            <a:r>
              <a:rPr lang="de-DE" sz="1400" dirty="0" err="1">
                <a:solidFill>
                  <a:schemeClr val="tx1"/>
                </a:solidFill>
              </a:rPr>
              <a:t>layout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ideas</a:t>
            </a:r>
            <a:endParaRPr lang="de-DE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021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07EB-96BE-4214-997D-D5198E71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– Day 10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19C214A-9220-4722-BEAD-7EBDD56E3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373" y="1087438"/>
            <a:ext cx="7883611" cy="3678237"/>
          </a:xfrm>
        </p:spPr>
      </p:pic>
    </p:spTree>
    <p:extLst>
      <p:ext uri="{BB962C8B-B14F-4D97-AF65-F5344CB8AC3E}">
        <p14:creationId xmlns:p14="http://schemas.microsoft.com/office/powerpoint/2010/main" val="1430054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26.08.24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think</a:t>
            </a:r>
            <a:r>
              <a:rPr lang="de-DE" sz="1400" dirty="0"/>
              <a:t> </a:t>
            </a:r>
            <a:r>
              <a:rPr lang="de-DE" sz="1400" dirty="0" err="1"/>
              <a:t>click</a:t>
            </a:r>
            <a:r>
              <a:rPr lang="de-DE" sz="1400" dirty="0"/>
              <a:t> a </a:t>
            </a:r>
            <a:r>
              <a:rPr lang="de-DE" sz="1400" dirty="0" err="1"/>
              <a:t>button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open a </a:t>
            </a:r>
            <a:r>
              <a:rPr lang="de-DE" sz="1400" dirty="0" err="1"/>
              <a:t>new</a:t>
            </a:r>
            <a:r>
              <a:rPr lang="de-DE" sz="1400" dirty="0"/>
              <a:t> </a:t>
            </a:r>
            <a:r>
              <a:rPr lang="de-DE" sz="1400" dirty="0" err="1"/>
              <a:t>tab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chemeClr val="tx1"/>
                </a:solidFill>
              </a:rPr>
              <a:t>there</a:t>
            </a:r>
            <a:r>
              <a:rPr lang="de-DE" sz="1400" dirty="0">
                <a:solidFill>
                  <a:schemeClr val="tx1"/>
                </a:solidFill>
              </a:rPr>
              <a:t> will </a:t>
            </a:r>
            <a:r>
              <a:rPr lang="de-DE" sz="1400" dirty="0" err="1">
                <a:solidFill>
                  <a:schemeClr val="tx1"/>
                </a:solidFill>
              </a:rPr>
              <a:t>come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one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more</a:t>
            </a:r>
            <a:r>
              <a:rPr lang="de-DE" sz="1400" dirty="0">
                <a:solidFill>
                  <a:schemeClr val="tx1"/>
                </a:solidFill>
              </a:rPr>
              <a:t> HV </a:t>
            </a:r>
            <a:r>
              <a:rPr lang="de-DE" sz="1400" dirty="0" err="1">
                <a:solidFill>
                  <a:schemeClr val="tx1"/>
                </a:solidFill>
              </a:rPr>
              <a:t>for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pos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values</a:t>
            </a:r>
            <a:endParaRPr lang="de-DE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chemeClr val="tx1"/>
                </a:solidFill>
              </a:rPr>
              <a:t>make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settings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file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that</a:t>
            </a:r>
            <a:r>
              <a:rPr lang="de-DE" sz="1400" dirty="0">
                <a:solidFill>
                  <a:schemeClr val="tx1"/>
                </a:solidFill>
              </a:rPr>
              <a:t> will </a:t>
            </a:r>
            <a:r>
              <a:rPr lang="de-DE" sz="1400" dirty="0" err="1">
                <a:solidFill>
                  <a:schemeClr val="tx1"/>
                </a:solidFill>
              </a:rPr>
              <a:t>be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automatized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later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when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we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have</a:t>
            </a:r>
            <a:r>
              <a:rPr lang="de-DE" sz="1400" dirty="0">
                <a:solidFill>
                  <a:schemeClr val="tx1"/>
                </a:solidFill>
              </a:rPr>
              <a:t> different </a:t>
            </a:r>
            <a:r>
              <a:rPr lang="de-DE" sz="1400" dirty="0" err="1">
                <a:solidFill>
                  <a:schemeClr val="tx1"/>
                </a:solidFill>
              </a:rPr>
              <a:t>layout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ideas</a:t>
            </a:r>
            <a:endParaRPr lang="de-DE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naming</a:t>
            </a:r>
            <a:r>
              <a:rPr lang="de-DE" sz="1400" strike="sngStrike" dirty="0">
                <a:solidFill>
                  <a:schemeClr val="tx1"/>
                </a:solidFill>
              </a:rPr>
              <a:t> and README </a:t>
            </a:r>
            <a:r>
              <a:rPr lang="de-DE" sz="1400" strike="sngStrike" dirty="0" err="1">
                <a:solidFill>
                  <a:schemeClr val="tx1"/>
                </a:solidFill>
              </a:rPr>
              <a:t>files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should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done</a:t>
            </a:r>
            <a:r>
              <a:rPr lang="de-DE" sz="1400" strike="sngStrike" dirty="0">
                <a:solidFill>
                  <a:schemeClr val="tx1"/>
                </a:solidFill>
              </a:rPr>
              <a:t> like MUSIC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add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set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button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for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scifi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bias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set</a:t>
            </a:r>
            <a:endParaRPr lang="de-DE" sz="1400" strike="sngStrike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42788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26.08.25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think</a:t>
            </a:r>
            <a:r>
              <a:rPr lang="de-DE" sz="1400" dirty="0"/>
              <a:t> </a:t>
            </a:r>
            <a:r>
              <a:rPr lang="de-DE" sz="1400" dirty="0" err="1"/>
              <a:t>click</a:t>
            </a:r>
            <a:r>
              <a:rPr lang="de-DE" sz="1400" dirty="0"/>
              <a:t> a </a:t>
            </a:r>
            <a:r>
              <a:rPr lang="de-DE" sz="1400" dirty="0" err="1"/>
              <a:t>button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open a </a:t>
            </a:r>
            <a:r>
              <a:rPr lang="de-DE" sz="1400" dirty="0" err="1"/>
              <a:t>new</a:t>
            </a:r>
            <a:r>
              <a:rPr lang="de-DE" sz="1400" dirty="0"/>
              <a:t> </a:t>
            </a:r>
            <a:r>
              <a:rPr lang="de-DE" sz="1400" dirty="0" err="1"/>
              <a:t>tab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chemeClr val="tx1"/>
                </a:solidFill>
              </a:rPr>
              <a:t>there</a:t>
            </a:r>
            <a:r>
              <a:rPr lang="de-DE" sz="1400" dirty="0">
                <a:solidFill>
                  <a:schemeClr val="tx1"/>
                </a:solidFill>
              </a:rPr>
              <a:t> will </a:t>
            </a:r>
            <a:r>
              <a:rPr lang="de-DE" sz="1400" dirty="0" err="1">
                <a:solidFill>
                  <a:schemeClr val="tx1"/>
                </a:solidFill>
              </a:rPr>
              <a:t>come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one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more</a:t>
            </a:r>
            <a:r>
              <a:rPr lang="de-DE" sz="1400" dirty="0">
                <a:solidFill>
                  <a:schemeClr val="tx1"/>
                </a:solidFill>
              </a:rPr>
              <a:t> HV </a:t>
            </a:r>
            <a:r>
              <a:rPr lang="de-DE" sz="1400" dirty="0" err="1">
                <a:solidFill>
                  <a:schemeClr val="tx1"/>
                </a:solidFill>
              </a:rPr>
              <a:t>for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pos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values</a:t>
            </a:r>
            <a:endParaRPr lang="de-DE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chemeClr val="tx1"/>
                </a:solidFill>
              </a:rPr>
              <a:t>make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settings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file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that</a:t>
            </a:r>
            <a:r>
              <a:rPr lang="de-DE" sz="1400" dirty="0">
                <a:solidFill>
                  <a:schemeClr val="tx1"/>
                </a:solidFill>
              </a:rPr>
              <a:t> will </a:t>
            </a:r>
            <a:r>
              <a:rPr lang="de-DE" sz="1400" dirty="0" err="1">
                <a:solidFill>
                  <a:schemeClr val="tx1"/>
                </a:solidFill>
              </a:rPr>
              <a:t>be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automatized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later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when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we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have</a:t>
            </a:r>
            <a:r>
              <a:rPr lang="de-DE" sz="1400" dirty="0">
                <a:solidFill>
                  <a:schemeClr val="tx1"/>
                </a:solidFill>
              </a:rPr>
              <a:t> different </a:t>
            </a:r>
            <a:r>
              <a:rPr lang="de-DE" sz="1400" dirty="0" err="1">
                <a:solidFill>
                  <a:schemeClr val="tx1"/>
                </a:solidFill>
              </a:rPr>
              <a:t>layout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ideas</a:t>
            </a:r>
            <a:endParaRPr lang="de-DE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naming</a:t>
            </a:r>
            <a:r>
              <a:rPr lang="de-DE" sz="1400" strike="sngStrike" dirty="0">
                <a:solidFill>
                  <a:schemeClr val="tx1"/>
                </a:solidFill>
              </a:rPr>
              <a:t> and README </a:t>
            </a:r>
            <a:r>
              <a:rPr lang="de-DE" sz="1400" strike="sngStrike" dirty="0" err="1">
                <a:solidFill>
                  <a:schemeClr val="tx1"/>
                </a:solidFill>
              </a:rPr>
              <a:t>files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should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done</a:t>
            </a:r>
            <a:r>
              <a:rPr lang="de-DE" sz="1400" strike="sngStrike" dirty="0">
                <a:solidFill>
                  <a:schemeClr val="tx1"/>
                </a:solidFill>
              </a:rPr>
              <a:t> like MUSIC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add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set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button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for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scifi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bias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set</a:t>
            </a:r>
            <a:endParaRPr lang="de-DE" sz="1400" strike="sngStrike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886139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26.08.26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think</a:t>
            </a:r>
            <a:r>
              <a:rPr lang="de-DE" sz="1400" dirty="0"/>
              <a:t> </a:t>
            </a:r>
            <a:r>
              <a:rPr lang="de-DE" sz="1400" dirty="0" err="1"/>
              <a:t>click</a:t>
            </a:r>
            <a:r>
              <a:rPr lang="de-DE" sz="1400" dirty="0"/>
              <a:t> a </a:t>
            </a:r>
            <a:r>
              <a:rPr lang="de-DE" sz="1400" dirty="0" err="1"/>
              <a:t>button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open a </a:t>
            </a:r>
            <a:r>
              <a:rPr lang="de-DE" sz="1400" dirty="0" err="1"/>
              <a:t>new</a:t>
            </a:r>
            <a:r>
              <a:rPr lang="de-DE" sz="1400" dirty="0"/>
              <a:t> </a:t>
            </a:r>
            <a:r>
              <a:rPr lang="de-DE" sz="1400" dirty="0" err="1"/>
              <a:t>tab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chemeClr val="tx1"/>
                </a:solidFill>
              </a:rPr>
              <a:t>there</a:t>
            </a:r>
            <a:r>
              <a:rPr lang="de-DE" sz="1400" dirty="0">
                <a:solidFill>
                  <a:schemeClr val="tx1"/>
                </a:solidFill>
              </a:rPr>
              <a:t> will </a:t>
            </a:r>
            <a:r>
              <a:rPr lang="de-DE" sz="1400" dirty="0" err="1">
                <a:solidFill>
                  <a:schemeClr val="tx1"/>
                </a:solidFill>
              </a:rPr>
              <a:t>come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one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more</a:t>
            </a:r>
            <a:r>
              <a:rPr lang="de-DE" sz="1400" dirty="0">
                <a:solidFill>
                  <a:schemeClr val="tx1"/>
                </a:solidFill>
              </a:rPr>
              <a:t> HV </a:t>
            </a:r>
            <a:r>
              <a:rPr lang="de-DE" sz="1400" dirty="0" err="1">
                <a:solidFill>
                  <a:schemeClr val="tx1"/>
                </a:solidFill>
              </a:rPr>
              <a:t>for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pos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values</a:t>
            </a:r>
            <a:endParaRPr lang="de-DE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make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settings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file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that</a:t>
            </a:r>
            <a:r>
              <a:rPr lang="de-DE" sz="1400" strike="sngStrike" dirty="0">
                <a:solidFill>
                  <a:schemeClr val="tx1"/>
                </a:solidFill>
              </a:rPr>
              <a:t> will </a:t>
            </a:r>
            <a:r>
              <a:rPr lang="de-DE" sz="1400" strike="sngStrike" dirty="0" err="1">
                <a:solidFill>
                  <a:schemeClr val="tx1"/>
                </a:solidFill>
              </a:rPr>
              <a:t>be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automatized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later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when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we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have</a:t>
            </a:r>
            <a:r>
              <a:rPr lang="de-DE" sz="1400" strike="sngStrike" dirty="0">
                <a:solidFill>
                  <a:schemeClr val="tx1"/>
                </a:solidFill>
              </a:rPr>
              <a:t> different </a:t>
            </a:r>
            <a:r>
              <a:rPr lang="de-DE" sz="1400" strike="sngStrike" dirty="0" err="1">
                <a:solidFill>
                  <a:schemeClr val="tx1"/>
                </a:solidFill>
              </a:rPr>
              <a:t>layout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ideas</a:t>
            </a:r>
            <a:endParaRPr lang="de-DE" sz="1400" strike="sngStrike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naming</a:t>
            </a:r>
            <a:r>
              <a:rPr lang="de-DE" sz="1400" strike="sngStrike" dirty="0">
                <a:solidFill>
                  <a:schemeClr val="tx1"/>
                </a:solidFill>
              </a:rPr>
              <a:t> and README </a:t>
            </a:r>
            <a:r>
              <a:rPr lang="de-DE" sz="1400" strike="sngStrike" dirty="0" err="1">
                <a:solidFill>
                  <a:schemeClr val="tx1"/>
                </a:solidFill>
              </a:rPr>
              <a:t>files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should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done</a:t>
            </a:r>
            <a:r>
              <a:rPr lang="de-DE" sz="1400" strike="sngStrike" dirty="0">
                <a:solidFill>
                  <a:schemeClr val="tx1"/>
                </a:solidFill>
              </a:rPr>
              <a:t> like MUSIC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add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set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button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for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scifi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bias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set</a:t>
            </a:r>
            <a:endParaRPr lang="de-DE" sz="1400" strike="sngStrike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chemeClr val="tx1"/>
                </a:solidFill>
              </a:rPr>
              <a:t>meet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with</a:t>
            </a:r>
            <a:r>
              <a:rPr lang="de-DE" sz="1400" dirty="0">
                <a:solidFill>
                  <a:schemeClr val="tx1"/>
                </a:solidFill>
              </a:rPr>
              <a:t> Irakli </a:t>
            </a:r>
            <a:r>
              <a:rPr lang="de-DE" sz="1400" dirty="0" err="1">
                <a:solidFill>
                  <a:schemeClr val="tx1"/>
                </a:solidFill>
              </a:rPr>
              <a:t>talk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about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feedbacks</a:t>
            </a:r>
            <a:endParaRPr lang="de-DE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22367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07EB-96BE-4214-997D-D5198E71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– Day 11-13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51348D-92A5-4E52-80EB-2A0105FA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7004"/>
            <a:ext cx="3068816" cy="809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E4EBFF-E317-4A08-AA00-BD2C77DDF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883" y="934648"/>
            <a:ext cx="6011050" cy="39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95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26.08.27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rgbClr val="FF0000"/>
                </a:solidFill>
              </a:rPr>
              <a:t>to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think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click</a:t>
            </a:r>
            <a:r>
              <a:rPr lang="de-DE" sz="1400" dirty="0">
                <a:solidFill>
                  <a:srgbClr val="FF0000"/>
                </a:solidFill>
              </a:rPr>
              <a:t> a </a:t>
            </a:r>
            <a:r>
              <a:rPr lang="de-DE" sz="1400" dirty="0" err="1">
                <a:solidFill>
                  <a:srgbClr val="FF0000"/>
                </a:solidFill>
              </a:rPr>
              <a:t>button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to</a:t>
            </a:r>
            <a:r>
              <a:rPr lang="de-DE" sz="1400" dirty="0">
                <a:solidFill>
                  <a:srgbClr val="FF0000"/>
                </a:solidFill>
              </a:rPr>
              <a:t> open a </a:t>
            </a:r>
            <a:r>
              <a:rPr lang="de-DE" sz="1400" dirty="0" err="1">
                <a:solidFill>
                  <a:srgbClr val="FF0000"/>
                </a:solidFill>
              </a:rPr>
              <a:t>new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tab</a:t>
            </a:r>
            <a:endParaRPr lang="de-DE" sz="14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there</a:t>
            </a:r>
            <a:r>
              <a:rPr lang="de-DE" sz="1400" strike="sngStrike" dirty="0">
                <a:solidFill>
                  <a:schemeClr val="tx1"/>
                </a:solidFill>
              </a:rPr>
              <a:t> will </a:t>
            </a:r>
            <a:r>
              <a:rPr lang="de-DE" sz="1400" strike="sngStrike" dirty="0" err="1">
                <a:solidFill>
                  <a:schemeClr val="tx1"/>
                </a:solidFill>
              </a:rPr>
              <a:t>come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one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more</a:t>
            </a:r>
            <a:r>
              <a:rPr lang="de-DE" sz="1400" strike="sngStrike" dirty="0">
                <a:solidFill>
                  <a:schemeClr val="tx1"/>
                </a:solidFill>
              </a:rPr>
              <a:t> HV </a:t>
            </a:r>
            <a:r>
              <a:rPr lang="de-DE" sz="1400" strike="sngStrike" dirty="0" err="1">
                <a:solidFill>
                  <a:schemeClr val="tx1"/>
                </a:solidFill>
              </a:rPr>
              <a:t>for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pos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values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dirty="0">
                <a:solidFill>
                  <a:schemeClr val="tx1"/>
                </a:solidFill>
              </a:rPr>
              <a:t>(I </a:t>
            </a:r>
            <a:r>
              <a:rPr lang="de-DE" sz="1400" dirty="0" err="1">
                <a:solidFill>
                  <a:schemeClr val="tx1"/>
                </a:solidFill>
              </a:rPr>
              <a:t>put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the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new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section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for</a:t>
            </a:r>
            <a:r>
              <a:rPr lang="de-DE" sz="1400" dirty="0">
                <a:solidFill>
                  <a:schemeClr val="tx1"/>
                </a:solidFill>
              </a:rPr>
              <a:t> 2nd power </a:t>
            </a:r>
            <a:r>
              <a:rPr lang="de-DE" sz="1400" dirty="0" err="1">
                <a:solidFill>
                  <a:schemeClr val="tx1"/>
                </a:solidFill>
              </a:rPr>
              <a:t>supply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of</a:t>
            </a:r>
            <a:r>
              <a:rPr lang="de-DE" sz="1400" dirty="0">
                <a:solidFill>
                  <a:schemeClr val="tx1"/>
                </a:solidFill>
              </a:rPr>
              <a:t> MUSIC but </a:t>
            </a:r>
            <a:r>
              <a:rPr lang="de-DE" sz="1400" dirty="0" err="1">
                <a:solidFill>
                  <a:schemeClr val="tx1"/>
                </a:solidFill>
              </a:rPr>
              <a:t>there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is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no</a:t>
            </a:r>
            <a:r>
              <a:rPr lang="de-DE" sz="1400" dirty="0">
                <a:solidFill>
                  <a:schemeClr val="tx1"/>
                </a:solidFill>
              </a:rPr>
              <a:t> PV in EPICS </a:t>
            </a:r>
            <a:r>
              <a:rPr lang="de-DE" sz="1400" dirty="0" err="1">
                <a:solidFill>
                  <a:schemeClr val="tx1"/>
                </a:solidFill>
              </a:rPr>
              <a:t>for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now</a:t>
            </a:r>
            <a:r>
              <a:rPr lang="de-DE" sz="1400">
                <a:solidFill>
                  <a:schemeClr val="tx1"/>
                </a:solidFill>
              </a:rPr>
              <a:t>)</a:t>
            </a:r>
            <a:endParaRPr lang="de-DE" sz="1400" strike="sngStrike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make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settings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file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that</a:t>
            </a:r>
            <a:r>
              <a:rPr lang="de-DE" sz="1400" strike="sngStrike" dirty="0">
                <a:solidFill>
                  <a:schemeClr val="tx1"/>
                </a:solidFill>
              </a:rPr>
              <a:t> will </a:t>
            </a:r>
            <a:r>
              <a:rPr lang="de-DE" sz="1400" strike="sngStrike" dirty="0" err="1">
                <a:solidFill>
                  <a:schemeClr val="tx1"/>
                </a:solidFill>
              </a:rPr>
              <a:t>be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automatized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later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when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we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have</a:t>
            </a:r>
            <a:r>
              <a:rPr lang="de-DE" sz="1400" strike="sngStrike" dirty="0">
                <a:solidFill>
                  <a:schemeClr val="tx1"/>
                </a:solidFill>
              </a:rPr>
              <a:t> different </a:t>
            </a:r>
            <a:r>
              <a:rPr lang="de-DE" sz="1400" strike="sngStrike" dirty="0" err="1">
                <a:solidFill>
                  <a:schemeClr val="tx1"/>
                </a:solidFill>
              </a:rPr>
              <a:t>layout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ideas</a:t>
            </a:r>
            <a:endParaRPr lang="de-DE" sz="1400" strike="sngStrike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naming</a:t>
            </a:r>
            <a:r>
              <a:rPr lang="de-DE" sz="1400" strike="sngStrike" dirty="0">
                <a:solidFill>
                  <a:schemeClr val="tx1"/>
                </a:solidFill>
              </a:rPr>
              <a:t> and README </a:t>
            </a:r>
            <a:r>
              <a:rPr lang="de-DE" sz="1400" strike="sngStrike" dirty="0" err="1">
                <a:solidFill>
                  <a:schemeClr val="tx1"/>
                </a:solidFill>
              </a:rPr>
              <a:t>files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should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be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done</a:t>
            </a:r>
            <a:r>
              <a:rPr lang="de-DE" sz="1400" strike="sngStrike" dirty="0">
                <a:solidFill>
                  <a:schemeClr val="tx1"/>
                </a:solidFill>
              </a:rPr>
              <a:t> like MUSIC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add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set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button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for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scifi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bias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set</a:t>
            </a:r>
            <a:endParaRPr lang="de-DE" sz="1400" strike="sngStrike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chemeClr val="tx1"/>
                </a:solidFill>
              </a:rPr>
              <a:t>meet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with</a:t>
            </a:r>
            <a:r>
              <a:rPr lang="de-DE" sz="1400" strike="sngStrike" dirty="0">
                <a:solidFill>
                  <a:schemeClr val="tx1"/>
                </a:solidFill>
              </a:rPr>
              <a:t> Irakli </a:t>
            </a:r>
            <a:r>
              <a:rPr lang="de-DE" sz="1400" strike="sngStrike" dirty="0" err="1">
                <a:solidFill>
                  <a:schemeClr val="tx1"/>
                </a:solidFill>
              </a:rPr>
              <a:t>talk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about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strike="sngStrike" dirty="0" err="1">
                <a:solidFill>
                  <a:schemeClr val="tx1"/>
                </a:solidFill>
              </a:rPr>
              <a:t>feedbacks</a:t>
            </a:r>
            <a:r>
              <a:rPr lang="de-DE" sz="1400" strike="sngStrike" dirty="0">
                <a:solidFill>
                  <a:schemeClr val="tx1"/>
                </a:solidFill>
              </a:rPr>
              <a:t> </a:t>
            </a:r>
            <a:r>
              <a:rPr lang="de-DE" sz="1400" dirty="0">
                <a:solidFill>
                  <a:schemeClr val="tx1"/>
                </a:solidFill>
              </a:rPr>
              <a:t>(Irakli </a:t>
            </a:r>
            <a:r>
              <a:rPr lang="de-DE" sz="1400" dirty="0" err="1">
                <a:solidFill>
                  <a:schemeClr val="tx1"/>
                </a:solidFill>
              </a:rPr>
              <a:t>two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weeks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absence,told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me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focusing</a:t>
            </a:r>
            <a:r>
              <a:rPr lang="de-DE" sz="1400" dirty="0">
                <a:solidFill>
                  <a:schemeClr val="tx1"/>
                </a:solidFill>
              </a:rPr>
              <a:t> on EPICS </a:t>
            </a:r>
            <a:r>
              <a:rPr lang="de-DE" sz="1400" dirty="0" err="1">
                <a:solidFill>
                  <a:schemeClr val="tx1"/>
                </a:solidFill>
              </a:rPr>
              <a:t>system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fundamentals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for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this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period</a:t>
            </a:r>
            <a:r>
              <a:rPr lang="de-DE" sz="1400" dirty="0">
                <a:solidFill>
                  <a:schemeClr val="tx1"/>
                </a:solidFill>
              </a:rPr>
              <a:t>)</a:t>
            </a:r>
            <a:endParaRPr lang="de-DE" sz="1400" strike="sngStrike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814592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26.08.31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rgbClr val="FF0000"/>
                </a:solidFill>
              </a:rPr>
              <a:t>to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think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click</a:t>
            </a:r>
            <a:r>
              <a:rPr lang="de-DE" sz="1400" dirty="0">
                <a:solidFill>
                  <a:srgbClr val="FF0000"/>
                </a:solidFill>
              </a:rPr>
              <a:t> a </a:t>
            </a:r>
            <a:r>
              <a:rPr lang="de-DE" sz="1400" dirty="0" err="1">
                <a:solidFill>
                  <a:srgbClr val="FF0000"/>
                </a:solidFill>
              </a:rPr>
              <a:t>button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to</a:t>
            </a:r>
            <a:r>
              <a:rPr lang="de-DE" sz="1400" dirty="0">
                <a:solidFill>
                  <a:srgbClr val="FF0000"/>
                </a:solidFill>
              </a:rPr>
              <a:t> open a </a:t>
            </a:r>
            <a:r>
              <a:rPr lang="de-DE" sz="1400" dirty="0" err="1">
                <a:solidFill>
                  <a:srgbClr val="FF0000"/>
                </a:solidFill>
              </a:rPr>
              <a:t>new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tab</a:t>
            </a:r>
            <a:endParaRPr lang="de-DE" sz="14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look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fundamentals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/>
              <a:t>EPICS ?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634685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26.09.01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rgbClr val="FF0000"/>
                </a:solidFill>
              </a:rPr>
              <a:t>to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think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click</a:t>
            </a:r>
            <a:r>
              <a:rPr lang="de-DE" sz="1400" dirty="0">
                <a:solidFill>
                  <a:srgbClr val="FF0000"/>
                </a:solidFill>
              </a:rPr>
              <a:t> a </a:t>
            </a:r>
            <a:r>
              <a:rPr lang="de-DE" sz="1400" dirty="0" err="1">
                <a:solidFill>
                  <a:srgbClr val="FF0000"/>
                </a:solidFill>
              </a:rPr>
              <a:t>button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to</a:t>
            </a:r>
            <a:r>
              <a:rPr lang="de-DE" sz="1400" dirty="0">
                <a:solidFill>
                  <a:srgbClr val="FF0000"/>
                </a:solidFill>
              </a:rPr>
              <a:t> open a </a:t>
            </a:r>
            <a:r>
              <a:rPr lang="de-DE" sz="1400" dirty="0" err="1">
                <a:solidFill>
                  <a:srgbClr val="FF0000"/>
                </a:solidFill>
              </a:rPr>
              <a:t>new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tab</a:t>
            </a:r>
            <a:endParaRPr lang="de-DE" sz="14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look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fundamentals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EPICS 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/>
              <a:t>SFC </a:t>
            </a:r>
            <a:r>
              <a:rPr lang="de-DE" sz="1400" strike="sngStrike" dirty="0" err="1"/>
              <a:t>presentation</a:t>
            </a:r>
            <a:endParaRPr lang="de-DE" sz="1400" strike="sngStrike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043004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26.09.02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strike="sngStrike" dirty="0" err="1">
                <a:solidFill>
                  <a:srgbClr val="FF0000"/>
                </a:solidFill>
              </a:rPr>
              <a:t>to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think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click</a:t>
            </a:r>
            <a:r>
              <a:rPr lang="de-DE" sz="1400" strike="sngStrike" dirty="0">
                <a:solidFill>
                  <a:srgbClr val="FF0000"/>
                </a:solidFill>
              </a:rPr>
              <a:t> a </a:t>
            </a:r>
            <a:r>
              <a:rPr lang="de-DE" sz="1400" strike="sngStrike" dirty="0" err="1">
                <a:solidFill>
                  <a:srgbClr val="FF0000"/>
                </a:solidFill>
              </a:rPr>
              <a:t>button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to</a:t>
            </a:r>
            <a:r>
              <a:rPr lang="de-DE" sz="1400" strike="sngStrike" dirty="0">
                <a:solidFill>
                  <a:srgbClr val="FF0000"/>
                </a:solidFill>
              </a:rPr>
              <a:t> open a </a:t>
            </a:r>
            <a:r>
              <a:rPr lang="de-DE" sz="1400" strike="sngStrike" dirty="0" err="1">
                <a:solidFill>
                  <a:srgbClr val="FF0000"/>
                </a:solidFill>
              </a:rPr>
              <a:t>new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tab</a:t>
            </a:r>
            <a:r>
              <a:rPr lang="de-DE" sz="1400" strike="sngStrike" dirty="0">
                <a:solidFill>
                  <a:srgbClr val="FF0000"/>
                </a:solidFill>
              </a:rPr>
              <a:t> (Status </a:t>
            </a:r>
            <a:r>
              <a:rPr lang="de-DE" sz="1400" strike="sngStrike" dirty="0" err="1">
                <a:solidFill>
                  <a:srgbClr val="FF0000"/>
                </a:solidFill>
              </a:rPr>
              <a:t>information</a:t>
            </a:r>
            <a:r>
              <a:rPr lang="de-DE" sz="1400" strike="sngStrike" dirty="0">
                <a:solidFill>
                  <a:srgbClr val="FF0000"/>
                </a:solidFill>
              </a:rPr>
              <a:t> box will </a:t>
            </a:r>
            <a:r>
              <a:rPr lang="de-DE" sz="1400" strike="sngStrike" dirty="0" err="1">
                <a:solidFill>
                  <a:srgbClr val="FF0000"/>
                </a:solidFill>
              </a:rPr>
              <a:t>be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tried</a:t>
            </a:r>
            <a:r>
              <a:rPr lang="de-DE" sz="1400" strike="sngStrike" dirty="0">
                <a:solidFill>
                  <a:srgbClr val="FF0000"/>
                </a:solidFill>
              </a:rPr>
              <a:t> </a:t>
            </a:r>
            <a:r>
              <a:rPr lang="de-DE" sz="1400" strike="sngStrike" dirty="0" err="1">
                <a:solidFill>
                  <a:srgbClr val="FF0000"/>
                </a:solidFill>
              </a:rPr>
              <a:t>today</a:t>
            </a:r>
            <a:r>
              <a:rPr lang="de-DE" sz="1400" strike="sngStrike" dirty="0">
                <a:solidFill>
                  <a:srgbClr val="FF0000"/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look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fundamentals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EPICS ? (</a:t>
            </a:r>
            <a:r>
              <a:rPr lang="de-DE" sz="1400" dirty="0" err="1"/>
              <a:t>one</a:t>
            </a:r>
            <a:r>
              <a:rPr lang="de-DE" sz="1400" dirty="0"/>
              <a:t> </a:t>
            </a:r>
            <a:r>
              <a:rPr lang="de-DE" sz="1400" dirty="0" err="1"/>
              <a:t>document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 </a:t>
            </a:r>
            <a:r>
              <a:rPr lang="de-DE" sz="1400" dirty="0" err="1"/>
              <a:t>jan</a:t>
            </a:r>
            <a:r>
              <a:rPr lang="de-DE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multistate</a:t>
            </a:r>
            <a:r>
              <a:rPr lang="de-DE" sz="1400" dirty="0"/>
              <a:t> </a:t>
            </a:r>
            <a:r>
              <a:rPr lang="de-DE" sz="1400" dirty="0" err="1"/>
              <a:t>leds</a:t>
            </a:r>
            <a:r>
              <a:rPr lang="de-DE" sz="1400" dirty="0"/>
              <a:t> </a:t>
            </a:r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error</a:t>
            </a:r>
            <a:r>
              <a:rPr lang="de-DE" sz="1400" dirty="0"/>
              <a:t>, </a:t>
            </a:r>
            <a:r>
              <a:rPr lang="de-DE" sz="1400" dirty="0" err="1"/>
              <a:t>warning</a:t>
            </a:r>
            <a:r>
              <a:rPr lang="de-DE" sz="1400" dirty="0"/>
              <a:t>, ok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plsci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tank/</a:t>
            </a:r>
            <a:r>
              <a:rPr lang="de-DE" sz="1400" dirty="0" err="1"/>
              <a:t>progress</a:t>
            </a:r>
            <a:r>
              <a:rPr lang="de-DE" sz="1400" dirty="0"/>
              <a:t> bar </a:t>
            </a:r>
            <a:r>
              <a:rPr lang="de-DE" sz="1400" dirty="0" err="1"/>
              <a:t>for</a:t>
            </a:r>
            <a:r>
              <a:rPr lang="de-DE" sz="1400" dirty="0"/>
              <a:t> HV_I_RBV</a:t>
            </a:r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029446538"/>
      </p:ext>
    </p:extLst>
  </p:cSld>
  <p:clrMapOvr>
    <a:masterClrMapping/>
  </p:clrMapOvr>
</p:sld>
</file>

<file path=ppt/theme/theme1.xml><?xml version="1.0" encoding="utf-8"?>
<a:theme xmlns:a="http://schemas.openxmlformats.org/drawingml/2006/main" name="fair-gsi-folienmaster_2017_onering">
  <a:themeElements>
    <a:clrScheme name="Benutzerdefiniert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6666"/>
      </a:hlink>
      <a:folHlink>
        <a:srgbClr val="800080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DBB63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t"/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8" id="{88F67082-FAA7-774F-81ED-C94DAF9F09F3}" vid="{76C6051D-27C6-564A-8764-CCBC0645D37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fair-gsi-folienmaster_2019_16zu9</Template>
  <TotalTime>0</TotalTime>
  <Words>1467</Words>
  <Application>Microsoft Office PowerPoint</Application>
  <PresentationFormat>On-screen Show (16:9)</PresentationFormat>
  <Paragraphs>202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fair-gsi-folienmaster_2017_onering</vt:lpstr>
      <vt:lpstr>CS Studio</vt:lpstr>
      <vt:lpstr>Report 26.08.05</vt:lpstr>
      <vt:lpstr>Example – Day 1</vt:lpstr>
      <vt:lpstr>Report 26.08.06</vt:lpstr>
      <vt:lpstr>Example – Day 2</vt:lpstr>
      <vt:lpstr>Report 26.08.10</vt:lpstr>
      <vt:lpstr>Example – Day 3</vt:lpstr>
      <vt:lpstr>Report 26.08.11-12</vt:lpstr>
      <vt:lpstr>Example – Day 4-5</vt:lpstr>
      <vt:lpstr>Example – Day 4-5</vt:lpstr>
      <vt:lpstr>Report 26.08.13</vt:lpstr>
      <vt:lpstr>Report 26.08.17</vt:lpstr>
      <vt:lpstr>Example – Day 6-7</vt:lpstr>
      <vt:lpstr>Report 26.08.18</vt:lpstr>
      <vt:lpstr>Report 26.08.19</vt:lpstr>
      <vt:lpstr>Example – Day 8-9</vt:lpstr>
      <vt:lpstr>Report 26.08.20</vt:lpstr>
      <vt:lpstr>Example – Day 10</vt:lpstr>
      <vt:lpstr>Report 26.08.24</vt:lpstr>
      <vt:lpstr>Report 26.08.25</vt:lpstr>
      <vt:lpstr>Report 26.08.26</vt:lpstr>
      <vt:lpstr>Example – Day 11-13</vt:lpstr>
      <vt:lpstr>Report 26.08.27</vt:lpstr>
      <vt:lpstr>Report 26.08.31</vt:lpstr>
      <vt:lpstr>Report 26.09.01</vt:lpstr>
      <vt:lpstr>Report 26.09.02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Connector Placement Visualization in Python</dc:title>
  <dc:creator>Kalafat, Oguzhan</dc:creator>
  <cp:lastModifiedBy>Kalafat, Oguzhan</cp:lastModifiedBy>
  <cp:revision>153</cp:revision>
  <cp:lastPrinted>2026-08-11T07:44:29Z</cp:lastPrinted>
  <dcterms:created xsi:type="dcterms:W3CDTF">2025-09-18T14:09:33Z</dcterms:created>
  <dcterms:modified xsi:type="dcterms:W3CDTF">2026-09-02T08:32:12Z</dcterms:modified>
</cp:coreProperties>
</file>